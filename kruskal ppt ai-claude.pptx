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E256A17-9F15-2678-2FFD-9DC60A8D6191}">
          <p14:sldIdLst>
            <p14:sldId id="256"/>
            <p14:sldId id="257"/>
          </p14:sldIdLst>
        </p14:section>
        <p14:section name="Concepts" id="{726C2422-4F43-38E8-8AAA-38D38A823899}">
          <p14:sldIdLst>
            <p14:sldId id="258"/>
            <p14:sldId id="259"/>
          </p14:sldIdLst>
        </p14:section>
        <p14:section name="Walkthrough" id="{007343F2-863C-B0A5-F0BC-F8F01178B26F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Wrap-up" id="{55F8BAF2-D2BF-7AB6-B34B-F49F81A8E24F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308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Kruskal's algorithm builds a minimum spanning tree by repeatedly taking the cheapest edge that does not form a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vertices as cities and edge weights as the cost of building a road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Dotted edges are not part of the tree. We will see why in the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cut property guarantees that the cheapest edge crossing any cut belongs to some MST, which is why the greedy choice is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Sorting costs O(E log E), which dominates the running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path compression and union by rank, each operation is nearly constant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nodes belong to the same disjoint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dashed edges are rejected because both endpoints already share a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spanning tree on V vertices always has exactly V - 1 edges, so there is no need to examine the remaining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whole algorithm: each row is one Find on both endpoints followed by a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edges, all 5 vertices connected, no cycles, total weight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complete algorithm. Everything else is the Union-Find data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log E equals O(E log V) because E is at most V squared.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4206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926080"/>
            <a:ext cx="4023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Kruskal's Algorithm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Kruskal's Algorithm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926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Finding the Minimum Spanning Tree</a:t>
            </a:r>
            <a:endParaRPr lang="en-US" sz="1800" dirty="0"/>
          </a:p>
        </p:txBody>
      </p:sp>
      <p:sp>
        <p:nvSpPr>
          <p:cNvPr id="4" name="Course tag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Greedy algorithms  ·  Graphs  ·  Second-year engineering</a:t>
            </a:r>
            <a:endParaRPr lang="en-US" sz="1200" dirty="0"/>
          </a:p>
        </p:txBody>
      </p:sp>
      <p:sp>
        <p:nvSpPr>
          <p:cNvPr id="5" name="Edge AB"/>
          <p:cNvSpPr/>
          <p:nvPr/>
        </p:nvSpPr>
        <p:spPr>
          <a:xfrm flipV="1">
            <a:off x="5255971" y="1413662"/>
            <a:ext cx="1053389" cy="362102"/>
          </a:xfrm>
          <a:prstGeom prst="line">
            <a:avLst/>
          </a:prstGeom>
          <a:noFill/>
          <a:ln w="50800">
            <a:solidFill>
              <a:schemeClr val="bg2"/>
            </a:solidFill>
            <a:prstDash val="solid"/>
          </a:ln>
        </p:spPr>
      </p:sp>
      <p:sp>
        <p:nvSpPr>
          <p:cNvPr id="6" name="Edge AC"/>
          <p:cNvSpPr/>
          <p:nvPr/>
        </p:nvSpPr>
        <p:spPr>
          <a:xfrm>
            <a:off x="5255971" y="1775765"/>
            <a:ext cx="1086307" cy="888797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ysDot"/>
          </a:ln>
        </p:spPr>
      </p:sp>
      <p:sp>
        <p:nvSpPr>
          <p:cNvPr id="7" name="Edge BC"/>
          <p:cNvSpPr/>
          <p:nvPr/>
        </p:nvSpPr>
        <p:spPr>
          <a:xfrm>
            <a:off x="6309360" y="1413662"/>
            <a:ext cx="32918" cy="1250899"/>
          </a:xfrm>
          <a:prstGeom prst="line">
            <a:avLst/>
          </a:prstGeom>
          <a:noFill/>
          <a:ln w="50800">
            <a:solidFill>
              <a:schemeClr val="bg2"/>
            </a:solidFill>
            <a:prstDash val="solid"/>
          </a:ln>
        </p:spPr>
      </p:sp>
      <p:sp>
        <p:nvSpPr>
          <p:cNvPr id="8" name="Edge BD"/>
          <p:cNvSpPr/>
          <p:nvPr/>
        </p:nvSpPr>
        <p:spPr>
          <a:xfrm>
            <a:off x="6309360" y="1413662"/>
            <a:ext cx="1316736" cy="559613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ysDot"/>
          </a:ln>
        </p:spPr>
      </p:sp>
      <p:sp>
        <p:nvSpPr>
          <p:cNvPr id="9" name="Edge CD"/>
          <p:cNvSpPr/>
          <p:nvPr/>
        </p:nvSpPr>
        <p:spPr>
          <a:xfrm flipV="1">
            <a:off x="6342278" y="1973275"/>
            <a:ext cx="1283818" cy="691286"/>
          </a:xfrm>
          <a:prstGeom prst="line">
            <a:avLst/>
          </a:prstGeom>
          <a:noFill/>
          <a:ln w="50800">
            <a:solidFill>
              <a:schemeClr val="bg2"/>
            </a:solidFill>
            <a:prstDash val="solid"/>
          </a:ln>
        </p:spPr>
      </p:sp>
      <p:sp>
        <p:nvSpPr>
          <p:cNvPr id="10" name="Edge DE"/>
          <p:cNvSpPr/>
          <p:nvPr/>
        </p:nvSpPr>
        <p:spPr>
          <a:xfrm>
            <a:off x="7626096" y="1973275"/>
            <a:ext cx="625450" cy="1119226"/>
          </a:xfrm>
          <a:prstGeom prst="line">
            <a:avLst/>
          </a:prstGeom>
          <a:noFill/>
          <a:ln w="50800">
            <a:solidFill>
              <a:schemeClr val="bg2"/>
            </a:solidFill>
            <a:prstDash val="solid"/>
          </a:ln>
        </p:spPr>
      </p:sp>
      <p:sp>
        <p:nvSpPr>
          <p:cNvPr id="11" name="Edge CE"/>
          <p:cNvSpPr/>
          <p:nvPr/>
        </p:nvSpPr>
        <p:spPr>
          <a:xfrm>
            <a:off x="6342278" y="2664562"/>
            <a:ext cx="1909267" cy="427939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ysDot"/>
          </a:ln>
        </p:spPr>
      </p:sp>
      <p:sp>
        <p:nvSpPr>
          <p:cNvPr id="12" name="Weight pill AB"/>
          <p:cNvSpPr/>
          <p:nvPr/>
        </p:nvSpPr>
        <p:spPr>
          <a:xfrm>
            <a:off x="5608930" y="1466698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tx2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13" name="Weight AB"/>
          <p:cNvSpPr txBox="1"/>
          <p:nvPr/>
        </p:nvSpPr>
        <p:spPr>
          <a:xfrm>
            <a:off x="5608930" y="146669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Weight pill AC"/>
          <p:cNvSpPr/>
          <p:nvPr/>
        </p:nvSpPr>
        <p:spPr>
          <a:xfrm>
            <a:off x="5625389" y="2092147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tx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5" name="Weight AC"/>
          <p:cNvSpPr txBox="1"/>
          <p:nvPr/>
        </p:nvSpPr>
        <p:spPr>
          <a:xfrm>
            <a:off x="5625389" y="209214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Weight pill BC"/>
          <p:cNvSpPr/>
          <p:nvPr/>
        </p:nvSpPr>
        <p:spPr>
          <a:xfrm>
            <a:off x="6152083" y="1911096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tx2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17" name="Weight BC"/>
          <p:cNvSpPr txBox="1"/>
          <p:nvPr/>
        </p:nvSpPr>
        <p:spPr>
          <a:xfrm>
            <a:off x="6152083" y="191109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Weight pill BD"/>
          <p:cNvSpPr/>
          <p:nvPr/>
        </p:nvSpPr>
        <p:spPr>
          <a:xfrm>
            <a:off x="6793992" y="1565453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tx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9" name="Weight BD"/>
          <p:cNvSpPr txBox="1"/>
          <p:nvPr/>
        </p:nvSpPr>
        <p:spPr>
          <a:xfrm>
            <a:off x="6793992" y="1565453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Weight pill CD"/>
          <p:cNvSpPr/>
          <p:nvPr/>
        </p:nvSpPr>
        <p:spPr>
          <a:xfrm>
            <a:off x="6810451" y="2190902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tx2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21" name="Weight CD"/>
          <p:cNvSpPr txBox="1"/>
          <p:nvPr/>
        </p:nvSpPr>
        <p:spPr>
          <a:xfrm>
            <a:off x="6810451" y="219090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2" name="Weight pill DE"/>
          <p:cNvSpPr/>
          <p:nvPr/>
        </p:nvSpPr>
        <p:spPr>
          <a:xfrm>
            <a:off x="7765085" y="2404872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tx2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23" name="Weight DE"/>
          <p:cNvSpPr txBox="1"/>
          <p:nvPr/>
        </p:nvSpPr>
        <p:spPr>
          <a:xfrm>
            <a:off x="7765085" y="24048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Weight pill CE"/>
          <p:cNvSpPr/>
          <p:nvPr/>
        </p:nvSpPr>
        <p:spPr>
          <a:xfrm>
            <a:off x="7123176" y="2750515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tx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5" name="Weight CE"/>
          <p:cNvSpPr txBox="1"/>
          <p:nvPr/>
        </p:nvSpPr>
        <p:spPr>
          <a:xfrm>
            <a:off x="7123176" y="2750515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6" name="Node A"/>
          <p:cNvSpPr/>
          <p:nvPr/>
        </p:nvSpPr>
        <p:spPr>
          <a:xfrm>
            <a:off x="5036515" y="1556309"/>
            <a:ext cx="438912" cy="438912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bg2"/>
            </a:solidFill>
            <a:prstDash val="solid"/>
          </a:ln>
        </p:spPr>
      </p:sp>
      <p:sp>
        <p:nvSpPr>
          <p:cNvPr id="27" name="Label A"/>
          <p:cNvSpPr txBox="1"/>
          <p:nvPr/>
        </p:nvSpPr>
        <p:spPr>
          <a:xfrm>
            <a:off x="5036515" y="155630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28" name="Node B"/>
          <p:cNvSpPr/>
          <p:nvPr/>
        </p:nvSpPr>
        <p:spPr>
          <a:xfrm>
            <a:off x="6089904" y="1194206"/>
            <a:ext cx="438912" cy="438912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bg2"/>
            </a:solidFill>
            <a:prstDash val="solid"/>
          </a:ln>
        </p:spPr>
      </p:sp>
      <p:sp>
        <p:nvSpPr>
          <p:cNvPr id="29" name="Label B"/>
          <p:cNvSpPr txBox="1"/>
          <p:nvPr/>
        </p:nvSpPr>
        <p:spPr>
          <a:xfrm>
            <a:off x="6089904" y="119420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30" name="Node C"/>
          <p:cNvSpPr/>
          <p:nvPr/>
        </p:nvSpPr>
        <p:spPr>
          <a:xfrm>
            <a:off x="6122822" y="2445106"/>
            <a:ext cx="438912" cy="438912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bg2"/>
            </a:solidFill>
            <a:prstDash val="solid"/>
          </a:ln>
        </p:spPr>
      </p:sp>
      <p:sp>
        <p:nvSpPr>
          <p:cNvPr id="31" name="Label C"/>
          <p:cNvSpPr txBox="1"/>
          <p:nvPr/>
        </p:nvSpPr>
        <p:spPr>
          <a:xfrm>
            <a:off x="6122822" y="244510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32" name="Node D"/>
          <p:cNvSpPr/>
          <p:nvPr/>
        </p:nvSpPr>
        <p:spPr>
          <a:xfrm>
            <a:off x="7406640" y="1753819"/>
            <a:ext cx="438912" cy="438912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bg2"/>
            </a:solidFill>
            <a:prstDash val="solid"/>
          </a:ln>
        </p:spPr>
      </p:sp>
      <p:sp>
        <p:nvSpPr>
          <p:cNvPr id="33" name="Label D"/>
          <p:cNvSpPr txBox="1"/>
          <p:nvPr/>
        </p:nvSpPr>
        <p:spPr>
          <a:xfrm>
            <a:off x="7406640" y="175381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</a:t>
            </a:r>
            <a:endParaRPr lang="en-US" sz="1500" dirty="0"/>
          </a:p>
        </p:txBody>
      </p:sp>
      <p:sp>
        <p:nvSpPr>
          <p:cNvPr id="34" name="Node E"/>
          <p:cNvSpPr/>
          <p:nvPr/>
        </p:nvSpPr>
        <p:spPr>
          <a:xfrm>
            <a:off x="8032090" y="2873045"/>
            <a:ext cx="438912" cy="438912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bg2"/>
            </a:solidFill>
            <a:prstDash val="solid"/>
          </a:ln>
        </p:spPr>
      </p:sp>
      <p:sp>
        <p:nvSpPr>
          <p:cNvPr id="35" name="Label E"/>
          <p:cNvSpPr txBox="1"/>
          <p:nvPr/>
        </p:nvSpPr>
        <p:spPr>
          <a:xfrm>
            <a:off x="8032090" y="287304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Connecting cities at minimum cost</a:t>
            </a:r>
            <a:endParaRPr lang="en-US" sz="3200" dirty="0"/>
          </a:p>
        </p:txBody>
      </p:sp>
      <p:sp>
        <p:nvSpPr>
          <p:cNvPr id="3" name="Edge AB"/>
          <p:cNvSpPr/>
          <p:nvPr/>
        </p:nvSpPr>
        <p:spPr>
          <a:xfrm flipV="1">
            <a:off x="1110996" y="1753362"/>
            <a:ext cx="1243584" cy="42748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" name="Edge AC"/>
          <p:cNvSpPr/>
          <p:nvPr/>
        </p:nvSpPr>
        <p:spPr>
          <a:xfrm>
            <a:off x="1110996" y="2180844"/>
            <a:ext cx="1282446" cy="104927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Edge BC"/>
          <p:cNvSpPr/>
          <p:nvPr/>
        </p:nvSpPr>
        <p:spPr>
          <a:xfrm>
            <a:off x="2354580" y="1753362"/>
            <a:ext cx="38862" cy="1476756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6" name="Edge BD"/>
          <p:cNvSpPr/>
          <p:nvPr/>
        </p:nvSpPr>
        <p:spPr>
          <a:xfrm>
            <a:off x="2354580" y="1753362"/>
            <a:ext cx="1554480" cy="66065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Edge CD"/>
          <p:cNvSpPr/>
          <p:nvPr/>
        </p:nvSpPr>
        <p:spPr>
          <a:xfrm flipV="1">
            <a:off x="2393442" y="2414016"/>
            <a:ext cx="1515618" cy="81610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8" name="Edge DE"/>
          <p:cNvSpPr/>
          <p:nvPr/>
        </p:nvSpPr>
        <p:spPr>
          <a:xfrm>
            <a:off x="3909060" y="2414016"/>
            <a:ext cx="738378" cy="1321308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Edge CE"/>
          <p:cNvSpPr/>
          <p:nvPr/>
        </p:nvSpPr>
        <p:spPr>
          <a:xfrm>
            <a:off x="2393442" y="3230118"/>
            <a:ext cx="2253996" cy="505206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0" name="Weight pill AB"/>
          <p:cNvSpPr/>
          <p:nvPr/>
        </p:nvSpPr>
        <p:spPr>
          <a:xfrm>
            <a:off x="1559052" y="1839087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1" name="Weight AB"/>
          <p:cNvSpPr txBox="1"/>
          <p:nvPr/>
        </p:nvSpPr>
        <p:spPr>
          <a:xfrm>
            <a:off x="1559052" y="183908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Weight pill AC"/>
          <p:cNvSpPr/>
          <p:nvPr/>
        </p:nvSpPr>
        <p:spPr>
          <a:xfrm>
            <a:off x="1578483" y="2577465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3" name="Weight AC"/>
          <p:cNvSpPr txBox="1"/>
          <p:nvPr/>
        </p:nvSpPr>
        <p:spPr>
          <a:xfrm>
            <a:off x="1578483" y="2577465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Weight pill BC"/>
          <p:cNvSpPr/>
          <p:nvPr/>
        </p:nvSpPr>
        <p:spPr>
          <a:xfrm>
            <a:off x="2200275" y="2363724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5" name="Weight BC"/>
          <p:cNvSpPr txBox="1"/>
          <p:nvPr/>
        </p:nvSpPr>
        <p:spPr>
          <a:xfrm>
            <a:off x="2200275" y="236372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Weight pill BD"/>
          <p:cNvSpPr/>
          <p:nvPr/>
        </p:nvSpPr>
        <p:spPr>
          <a:xfrm>
            <a:off x="2958084" y="1955673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7" name="Weight BD"/>
          <p:cNvSpPr txBox="1"/>
          <p:nvPr/>
        </p:nvSpPr>
        <p:spPr>
          <a:xfrm>
            <a:off x="2958084" y="1955673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Weight pill CD"/>
          <p:cNvSpPr/>
          <p:nvPr/>
        </p:nvSpPr>
        <p:spPr>
          <a:xfrm>
            <a:off x="2977515" y="2694051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9" name="Weight CD"/>
          <p:cNvSpPr txBox="1"/>
          <p:nvPr/>
        </p:nvSpPr>
        <p:spPr>
          <a:xfrm>
            <a:off x="2977515" y="269405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Weight pill DE"/>
          <p:cNvSpPr/>
          <p:nvPr/>
        </p:nvSpPr>
        <p:spPr>
          <a:xfrm>
            <a:off x="4104513" y="2946654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1" name="Weight DE"/>
          <p:cNvSpPr txBox="1"/>
          <p:nvPr/>
        </p:nvSpPr>
        <p:spPr>
          <a:xfrm>
            <a:off x="4104513" y="294665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Weight pill CE"/>
          <p:cNvSpPr/>
          <p:nvPr/>
        </p:nvSpPr>
        <p:spPr>
          <a:xfrm>
            <a:off x="3346704" y="3354705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3" name="Weight CE"/>
          <p:cNvSpPr txBox="1"/>
          <p:nvPr/>
        </p:nvSpPr>
        <p:spPr>
          <a:xfrm>
            <a:off x="3346704" y="3354705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Node A"/>
          <p:cNvSpPr/>
          <p:nvPr/>
        </p:nvSpPr>
        <p:spPr>
          <a:xfrm>
            <a:off x="891540" y="1961388"/>
            <a:ext cx="438912" cy="43891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5" name="Label A"/>
          <p:cNvSpPr txBox="1"/>
          <p:nvPr/>
        </p:nvSpPr>
        <p:spPr>
          <a:xfrm>
            <a:off x="891540" y="19613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26" name="Node B"/>
          <p:cNvSpPr/>
          <p:nvPr/>
        </p:nvSpPr>
        <p:spPr>
          <a:xfrm>
            <a:off x="2135124" y="1533906"/>
            <a:ext cx="438912" cy="43891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7" name="Label B"/>
          <p:cNvSpPr txBox="1"/>
          <p:nvPr/>
        </p:nvSpPr>
        <p:spPr>
          <a:xfrm>
            <a:off x="2135124" y="153390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28" name="Node C"/>
          <p:cNvSpPr/>
          <p:nvPr/>
        </p:nvSpPr>
        <p:spPr>
          <a:xfrm>
            <a:off x="2173986" y="3010662"/>
            <a:ext cx="438912" cy="43891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9" name="Label C"/>
          <p:cNvSpPr txBox="1"/>
          <p:nvPr/>
        </p:nvSpPr>
        <p:spPr>
          <a:xfrm>
            <a:off x="2173986" y="301066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30" name="Node D"/>
          <p:cNvSpPr/>
          <p:nvPr/>
        </p:nvSpPr>
        <p:spPr>
          <a:xfrm>
            <a:off x="3689604" y="2194560"/>
            <a:ext cx="438912" cy="43891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1" name="Label D"/>
          <p:cNvSpPr txBox="1"/>
          <p:nvPr/>
        </p:nvSpPr>
        <p:spPr>
          <a:xfrm>
            <a:off x="3689604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32" name="Node E"/>
          <p:cNvSpPr/>
          <p:nvPr/>
        </p:nvSpPr>
        <p:spPr>
          <a:xfrm>
            <a:off x="4427982" y="3515868"/>
            <a:ext cx="438912" cy="43891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3" name="Label E"/>
          <p:cNvSpPr txBox="1"/>
          <p:nvPr/>
        </p:nvSpPr>
        <p:spPr>
          <a:xfrm>
            <a:off x="4427982" y="35158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E</a:t>
            </a:r>
            <a:endParaRPr lang="en-US" sz="1500" dirty="0"/>
          </a:p>
        </p:txBody>
      </p:sp>
      <p:sp>
        <p:nvSpPr>
          <p:cNvPr id="34" name="Stat card cities"/>
          <p:cNvSpPr/>
          <p:nvPr/>
        </p:nvSpPr>
        <p:spPr>
          <a:xfrm>
            <a:off x="5394960" y="1325880"/>
            <a:ext cx="15544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35" name="Stat cities"/>
          <p:cNvSpPr txBox="1"/>
          <p:nvPr/>
        </p:nvSpPr>
        <p:spPr>
          <a:xfrm>
            <a:off x="5394960" y="13898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36" name="Stat cities label"/>
          <p:cNvSpPr txBox="1"/>
          <p:nvPr/>
        </p:nvSpPr>
        <p:spPr>
          <a:xfrm>
            <a:off x="53949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cities</a:t>
            </a:r>
            <a:endParaRPr lang="en-US" sz="1400" dirty="0"/>
          </a:p>
        </p:txBody>
      </p:sp>
      <p:sp>
        <p:nvSpPr>
          <p:cNvPr id="37" name="Stat card roads"/>
          <p:cNvSpPr/>
          <p:nvPr/>
        </p:nvSpPr>
        <p:spPr>
          <a:xfrm>
            <a:off x="7132320" y="1325880"/>
            <a:ext cx="15544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38" name="Stat roads"/>
          <p:cNvSpPr txBox="1"/>
          <p:nvPr/>
        </p:nvSpPr>
        <p:spPr>
          <a:xfrm>
            <a:off x="7132320" y="13898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39" name="Stat roads label"/>
          <p:cNvSpPr txBox="1"/>
          <p:nvPr/>
        </p:nvSpPr>
        <p:spPr>
          <a:xfrm>
            <a:off x="713232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possible roads</a:t>
            </a:r>
            <a:endParaRPr lang="en-US" sz="1400" dirty="0"/>
          </a:p>
        </p:txBody>
      </p:sp>
      <p:sp>
        <p:nvSpPr>
          <p:cNvPr id="40" name="Intro bullets"/>
          <p:cNvSpPr txBox="1"/>
          <p:nvPr/>
        </p:nvSpPr>
        <p:spPr>
          <a:xfrm>
            <a:off x="5394960" y="27432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road has a construction cost.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Connect every city while spending the least.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That is the Minimum Spanning Tree problem.</a:t>
            </a:r>
            <a:endParaRPr lang="en-US" sz="16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a Minimum Spanning Tree?</a:t>
            </a:r>
            <a:endParaRPr lang="en-US" sz="3200" dirty="0"/>
          </a:p>
        </p:txBody>
      </p:sp>
      <p:sp>
        <p:nvSpPr>
          <p:cNvPr id="3" name="Property card 1"/>
          <p:cNvSpPr/>
          <p:nvPr/>
        </p:nvSpPr>
        <p:spPr>
          <a:xfrm>
            <a:off x="457200" y="1325880"/>
            <a:ext cx="429768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4" name="Property badge 1"/>
          <p:cNvSpPr/>
          <p:nvPr/>
        </p:nvSpPr>
        <p:spPr>
          <a:xfrm>
            <a:off x="594360" y="149961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roperty glyph 1"/>
          <p:cNvSpPr txBox="1"/>
          <p:nvPr/>
        </p:nvSpPr>
        <p:spPr>
          <a:xfrm>
            <a:off x="594360" y="1499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</a:t>
            </a:r>
            <a:endParaRPr lang="en-US" sz="1400" dirty="0"/>
          </a:p>
        </p:txBody>
      </p:sp>
      <p:sp>
        <p:nvSpPr>
          <p:cNvPr id="6" name="Property title 1"/>
          <p:cNvSpPr txBox="1"/>
          <p:nvPr/>
        </p:nvSpPr>
        <p:spPr>
          <a:xfrm>
            <a:off x="1325880" y="14538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Connects every vertex</a:t>
            </a:r>
            <a:endParaRPr lang="en-US" sz="1800" dirty="0"/>
          </a:p>
        </p:txBody>
      </p:sp>
      <p:sp>
        <p:nvSpPr>
          <p:cNvPr id="7" name="Property text 1"/>
          <p:cNvSpPr txBox="1"/>
          <p:nvPr/>
        </p:nvSpPr>
        <p:spPr>
          <a:xfrm>
            <a:off x="132588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All cities reachable from each other</a:t>
            </a:r>
            <a:endParaRPr lang="en-US" sz="1400" dirty="0"/>
          </a:p>
        </p:txBody>
      </p:sp>
      <p:sp>
        <p:nvSpPr>
          <p:cNvPr id="8" name="Property card 2"/>
          <p:cNvSpPr/>
          <p:nvPr/>
        </p:nvSpPr>
        <p:spPr>
          <a:xfrm>
            <a:off x="457200" y="2377440"/>
            <a:ext cx="429768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9" name="Property badge 2"/>
          <p:cNvSpPr/>
          <p:nvPr/>
        </p:nvSpPr>
        <p:spPr>
          <a:xfrm>
            <a:off x="594360" y="255117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perty glyph 2"/>
          <p:cNvSpPr txBox="1"/>
          <p:nvPr/>
        </p:nvSpPr>
        <p:spPr>
          <a:xfrm>
            <a:off x="594360" y="2551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min</a:t>
            </a:r>
            <a:endParaRPr lang="en-US" sz="1400" dirty="0"/>
          </a:p>
        </p:txBody>
      </p:sp>
      <p:sp>
        <p:nvSpPr>
          <p:cNvPr id="11" name="Property title 2"/>
          <p:cNvSpPr txBox="1"/>
          <p:nvPr/>
        </p:nvSpPr>
        <p:spPr>
          <a:xfrm>
            <a:off x="1325880" y="25054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Minimum total weight</a:t>
            </a:r>
            <a:endParaRPr lang="en-US" sz="1800" dirty="0"/>
          </a:p>
        </p:txBody>
      </p:sp>
      <p:sp>
        <p:nvSpPr>
          <p:cNvPr id="12" name="Property text 2"/>
          <p:cNvSpPr txBox="1"/>
          <p:nvPr/>
        </p:nvSpPr>
        <p:spPr>
          <a:xfrm>
            <a:off x="132588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No cheaper way to connect them all</a:t>
            </a:r>
            <a:endParaRPr lang="en-US" sz="1400" dirty="0"/>
          </a:p>
        </p:txBody>
      </p:sp>
      <p:sp>
        <p:nvSpPr>
          <p:cNvPr id="13" name="Property card 3"/>
          <p:cNvSpPr/>
          <p:nvPr/>
        </p:nvSpPr>
        <p:spPr>
          <a:xfrm>
            <a:off x="457200" y="3429000"/>
            <a:ext cx="429768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14" name="Property badge 3"/>
          <p:cNvSpPr/>
          <p:nvPr/>
        </p:nvSpPr>
        <p:spPr>
          <a:xfrm>
            <a:off x="594360" y="360273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Property glyph 3"/>
          <p:cNvSpPr txBox="1"/>
          <p:nvPr/>
        </p:nvSpPr>
        <p:spPr>
          <a:xfrm>
            <a:off x="594360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16" name="Property title 3"/>
          <p:cNvSpPr txBox="1"/>
          <p:nvPr/>
        </p:nvSpPr>
        <p:spPr>
          <a:xfrm>
            <a:off x="1325880" y="35570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cycles</a:t>
            </a:r>
            <a:endParaRPr lang="en-US" sz="1800" dirty="0"/>
          </a:p>
        </p:txBody>
      </p:sp>
      <p:sp>
        <p:nvSpPr>
          <p:cNvPr id="17" name="Property text 3"/>
          <p:cNvSpPr txBox="1"/>
          <p:nvPr/>
        </p:nvSpPr>
        <p:spPr>
          <a:xfrm>
            <a:off x="132588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 tree with V vertices has V − 1 edges</a:t>
            </a:r>
            <a:endParaRPr lang="en-US" sz="1400" dirty="0"/>
          </a:p>
        </p:txBody>
      </p:sp>
      <p:sp>
        <p:nvSpPr>
          <p:cNvPr id="18" name="Edge AB"/>
          <p:cNvSpPr/>
          <p:nvPr/>
        </p:nvSpPr>
        <p:spPr>
          <a:xfrm flipV="1">
            <a:off x="5459882" y="1810055"/>
            <a:ext cx="1009498" cy="347015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19" name="Edge AC"/>
          <p:cNvSpPr/>
          <p:nvPr/>
        </p:nvSpPr>
        <p:spPr>
          <a:xfrm>
            <a:off x="5459882" y="2157070"/>
            <a:ext cx="1041044" cy="85176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ysDot"/>
          </a:ln>
        </p:spPr>
      </p:sp>
      <p:sp>
        <p:nvSpPr>
          <p:cNvPr id="20" name="Edge BC"/>
          <p:cNvSpPr/>
          <p:nvPr/>
        </p:nvSpPr>
        <p:spPr>
          <a:xfrm>
            <a:off x="6469380" y="1810055"/>
            <a:ext cx="31547" cy="1198778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21" name="Edge BD"/>
          <p:cNvSpPr/>
          <p:nvPr/>
        </p:nvSpPr>
        <p:spPr>
          <a:xfrm>
            <a:off x="6469380" y="1810055"/>
            <a:ext cx="1261872" cy="536296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ysDot"/>
          </a:ln>
        </p:spPr>
      </p:sp>
      <p:sp>
        <p:nvSpPr>
          <p:cNvPr id="22" name="Edge CD"/>
          <p:cNvSpPr/>
          <p:nvPr/>
        </p:nvSpPr>
        <p:spPr>
          <a:xfrm flipV="1">
            <a:off x="6500927" y="2346350"/>
            <a:ext cx="1230325" cy="662483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23" name="Edge DE"/>
          <p:cNvSpPr/>
          <p:nvPr/>
        </p:nvSpPr>
        <p:spPr>
          <a:xfrm>
            <a:off x="7731252" y="2346350"/>
            <a:ext cx="599389" cy="1072591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24" name="Edge CE"/>
          <p:cNvSpPr/>
          <p:nvPr/>
        </p:nvSpPr>
        <p:spPr>
          <a:xfrm>
            <a:off x="6500927" y="3008833"/>
            <a:ext cx="1829714" cy="41010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ysDot"/>
          </a:ln>
        </p:spPr>
      </p:sp>
      <p:sp>
        <p:nvSpPr>
          <p:cNvPr id="25" name="Weight pill AB"/>
          <p:cNvSpPr/>
          <p:nvPr/>
        </p:nvSpPr>
        <p:spPr>
          <a:xfrm>
            <a:off x="5790895" y="1855546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Weight AB"/>
          <p:cNvSpPr txBox="1"/>
          <p:nvPr/>
        </p:nvSpPr>
        <p:spPr>
          <a:xfrm>
            <a:off x="5790895" y="185554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Weight pill AC"/>
          <p:cNvSpPr/>
          <p:nvPr/>
        </p:nvSpPr>
        <p:spPr>
          <a:xfrm>
            <a:off x="5806669" y="2454935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8" name="Weight AC"/>
          <p:cNvSpPr txBox="1"/>
          <p:nvPr/>
        </p:nvSpPr>
        <p:spPr>
          <a:xfrm>
            <a:off x="5806669" y="2454935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Weight pill BC"/>
          <p:cNvSpPr/>
          <p:nvPr/>
        </p:nvSpPr>
        <p:spPr>
          <a:xfrm>
            <a:off x="6311417" y="2281428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Weight BC"/>
          <p:cNvSpPr txBox="1"/>
          <p:nvPr/>
        </p:nvSpPr>
        <p:spPr>
          <a:xfrm>
            <a:off x="6311417" y="22814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Weight pill BD"/>
          <p:cNvSpPr/>
          <p:nvPr/>
        </p:nvSpPr>
        <p:spPr>
          <a:xfrm>
            <a:off x="6926580" y="1950187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2" name="Weight BD"/>
          <p:cNvSpPr txBox="1"/>
          <p:nvPr/>
        </p:nvSpPr>
        <p:spPr>
          <a:xfrm>
            <a:off x="6926580" y="195018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Weight pill CD"/>
          <p:cNvSpPr/>
          <p:nvPr/>
        </p:nvSpPr>
        <p:spPr>
          <a:xfrm>
            <a:off x="6942353" y="2549576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Weight CD"/>
          <p:cNvSpPr txBox="1"/>
          <p:nvPr/>
        </p:nvSpPr>
        <p:spPr>
          <a:xfrm>
            <a:off x="6942353" y="254957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35" name="Weight pill DE"/>
          <p:cNvSpPr/>
          <p:nvPr/>
        </p:nvSpPr>
        <p:spPr>
          <a:xfrm>
            <a:off x="7857211" y="2754630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6" name="Weight DE"/>
          <p:cNvSpPr txBox="1"/>
          <p:nvPr/>
        </p:nvSpPr>
        <p:spPr>
          <a:xfrm>
            <a:off x="7857211" y="275463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Weight pill CE"/>
          <p:cNvSpPr/>
          <p:nvPr/>
        </p:nvSpPr>
        <p:spPr>
          <a:xfrm>
            <a:off x="7242048" y="3085871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8" name="Weight CE"/>
          <p:cNvSpPr txBox="1"/>
          <p:nvPr/>
        </p:nvSpPr>
        <p:spPr>
          <a:xfrm>
            <a:off x="7242048" y="308587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39" name="Node A"/>
          <p:cNvSpPr/>
          <p:nvPr/>
        </p:nvSpPr>
        <p:spPr>
          <a:xfrm>
            <a:off x="5240426" y="1937614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40" name="Label A"/>
          <p:cNvSpPr txBox="1"/>
          <p:nvPr/>
        </p:nvSpPr>
        <p:spPr>
          <a:xfrm>
            <a:off x="5240426" y="193761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41" name="Node B"/>
          <p:cNvSpPr/>
          <p:nvPr/>
        </p:nvSpPr>
        <p:spPr>
          <a:xfrm>
            <a:off x="6249924" y="1590599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42" name="Label B"/>
          <p:cNvSpPr txBox="1"/>
          <p:nvPr/>
        </p:nvSpPr>
        <p:spPr>
          <a:xfrm>
            <a:off x="6249924" y="159059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43" name="Node C"/>
          <p:cNvSpPr/>
          <p:nvPr/>
        </p:nvSpPr>
        <p:spPr>
          <a:xfrm>
            <a:off x="6281471" y="2789377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44" name="Label C"/>
          <p:cNvSpPr txBox="1"/>
          <p:nvPr/>
        </p:nvSpPr>
        <p:spPr>
          <a:xfrm>
            <a:off x="6281471" y="278937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45" name="Node D"/>
          <p:cNvSpPr/>
          <p:nvPr/>
        </p:nvSpPr>
        <p:spPr>
          <a:xfrm>
            <a:off x="7511796" y="2126894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46" name="Label D"/>
          <p:cNvSpPr txBox="1"/>
          <p:nvPr/>
        </p:nvSpPr>
        <p:spPr>
          <a:xfrm>
            <a:off x="7511796" y="212689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</a:t>
            </a:r>
            <a:endParaRPr lang="en-US" sz="1500" dirty="0"/>
          </a:p>
        </p:txBody>
      </p:sp>
      <p:sp>
        <p:nvSpPr>
          <p:cNvPr id="47" name="Node E"/>
          <p:cNvSpPr/>
          <p:nvPr/>
        </p:nvSpPr>
        <p:spPr>
          <a:xfrm>
            <a:off x="8111185" y="3199486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48" name="Label E"/>
          <p:cNvSpPr txBox="1"/>
          <p:nvPr/>
        </p:nvSpPr>
        <p:spPr>
          <a:xfrm>
            <a:off x="8111185" y="319948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</a:t>
            </a:r>
            <a:endParaRPr lang="en-US" sz="1500" dirty="0"/>
          </a:p>
        </p:txBody>
      </p:sp>
      <p:sp>
        <p:nvSpPr>
          <p:cNvPr id="49" name="MST caption"/>
          <p:cNvSpPr txBox="1"/>
          <p:nvPr/>
        </p:nvSpPr>
        <p:spPr>
          <a:xfrm>
            <a:off x="489204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The MST of our graph: 4 edges, total weight 12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idea: always take the cheapest safe edge</a:t>
            </a:r>
            <a:endParaRPr lang="en-US" sz="3200" dirty="0"/>
          </a:p>
        </p:txBody>
      </p:sp>
      <p:sp>
        <p:nvSpPr>
          <p:cNvPr id="3" name="Flow step 1"/>
          <p:cNvSpPr/>
          <p:nvPr/>
        </p:nvSpPr>
        <p:spPr>
          <a:xfrm>
            <a:off x="457200" y="1554480"/>
            <a:ext cx="228600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4" name="Flow step 1 text"/>
          <p:cNvSpPr txBox="1"/>
          <p:nvPr/>
        </p:nvSpPr>
        <p:spPr>
          <a:xfrm>
            <a:off x="594360" y="15544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Pick the cheapest unused edge</a:t>
            </a:r>
            <a:endParaRPr lang="en-US" sz="1800" dirty="0"/>
          </a:p>
        </p:txBody>
      </p:sp>
      <p:sp>
        <p:nvSpPr>
          <p:cNvPr id="5" name="Arrow 1"/>
          <p:cNvSpPr/>
          <p:nvPr/>
        </p:nvSpPr>
        <p:spPr>
          <a:xfrm>
            <a:off x="2880360" y="2011680"/>
            <a:ext cx="41148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6" name="Flow step 2"/>
          <p:cNvSpPr/>
          <p:nvPr/>
        </p:nvSpPr>
        <p:spPr>
          <a:xfrm>
            <a:off x="3429000" y="1554480"/>
            <a:ext cx="22860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7" name="Flow step 2 text"/>
          <p:cNvSpPr txBox="1"/>
          <p:nvPr/>
        </p:nvSpPr>
        <p:spPr>
          <a:xfrm>
            <a:off x="3566160" y="15544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Does it close a cycle?</a:t>
            </a:r>
            <a:endParaRPr lang="en-US" sz="1800" dirty="0"/>
          </a:p>
        </p:txBody>
      </p:sp>
      <p:sp>
        <p:nvSpPr>
          <p:cNvPr id="8" name="Arrow 2"/>
          <p:cNvSpPr/>
          <p:nvPr/>
        </p:nvSpPr>
        <p:spPr>
          <a:xfrm>
            <a:off x="5852160" y="2011680"/>
            <a:ext cx="41148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9" name="Flow outcome no"/>
          <p:cNvSpPr/>
          <p:nvPr/>
        </p:nvSpPr>
        <p:spPr>
          <a:xfrm>
            <a:off x="6400800" y="1325880"/>
            <a:ext cx="22860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0" name="Flow outcome no text"/>
          <p:cNvSpPr txBox="1"/>
          <p:nvPr/>
        </p:nvSpPr>
        <p:spPr>
          <a:xfrm>
            <a:off x="6492240" y="1325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No: </a:t>
            </a:r>
            <a:r>
              <a:rPr lang="en-US" sz="1600" dirty="0">
                <a:solidFill>
                  <a:schemeClr val="bg1"/>
                </a:solidFill>
              </a:rPr>
              <a:t>add it to the tree</a:t>
            </a:r>
            <a:endParaRPr lang="en-US" sz="1600" dirty="0"/>
          </a:p>
        </p:txBody>
      </p:sp>
      <p:sp>
        <p:nvSpPr>
          <p:cNvPr id="11" name="Flow outcome yes"/>
          <p:cNvSpPr/>
          <p:nvPr/>
        </p:nvSpPr>
        <p:spPr>
          <a:xfrm>
            <a:off x="6400800" y="2423160"/>
            <a:ext cx="228600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12" name="Flow outcome yes text"/>
          <p:cNvSpPr txBox="1"/>
          <p:nvPr/>
        </p:nvSpPr>
        <p:spPr>
          <a:xfrm>
            <a:off x="649224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Yes: </a:t>
            </a:r>
            <a:r>
              <a:rPr lang="en-US" sz="1600" dirty="0">
                <a:solidFill>
                  <a:schemeClr val="bg1"/>
                </a:solidFill>
              </a:rPr>
              <a:t>reject it</a:t>
            </a:r>
            <a:endParaRPr lang="en-US" sz="1600" dirty="0"/>
          </a:p>
        </p:txBody>
      </p:sp>
      <p:sp>
        <p:nvSpPr>
          <p:cNvPr id="13" name="Greedy note"/>
          <p:cNvSpPr/>
          <p:nvPr/>
        </p:nvSpPr>
        <p:spPr>
          <a:xfrm>
            <a:off x="457200" y="35204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4" name="Greedy note text"/>
          <p:cNvSpPr txBox="1"/>
          <p:nvPr/>
        </p:nvSpPr>
        <p:spPr>
          <a:xfrm>
            <a:off x="640080" y="3520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This is a greedy algorithm: picking the locally cheapest edge at each step is enough to reach the globally cheapest tree.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1: sort the edges by weight</a:t>
            </a:r>
            <a:endParaRPr lang="en-US" sz="3200" dirty="0"/>
          </a:p>
        </p:txBody>
      </p:sp>
      <p:graphicFrame>
        <p:nvGraphicFramePr>
          <p:cNvPr id="6" name="Sorted edg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356616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Order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Edge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Weight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 – D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 – B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 – C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 – D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 – C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 – E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 – E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Edge AB"/>
          <p:cNvSpPr/>
          <p:nvPr/>
        </p:nvSpPr>
        <p:spPr>
          <a:xfrm flipV="1">
            <a:off x="5164531" y="1733702"/>
            <a:ext cx="1053389" cy="36210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Edge AC"/>
          <p:cNvSpPr/>
          <p:nvPr/>
        </p:nvSpPr>
        <p:spPr>
          <a:xfrm>
            <a:off x="5164531" y="2095805"/>
            <a:ext cx="1086307" cy="888797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" name="Edge BC"/>
          <p:cNvSpPr/>
          <p:nvPr/>
        </p:nvSpPr>
        <p:spPr>
          <a:xfrm>
            <a:off x="6217920" y="1733702"/>
            <a:ext cx="32918" cy="1250899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Edge BD"/>
          <p:cNvSpPr/>
          <p:nvPr/>
        </p:nvSpPr>
        <p:spPr>
          <a:xfrm>
            <a:off x="6217920" y="1733702"/>
            <a:ext cx="1316736" cy="559613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8" name="Edge CD"/>
          <p:cNvSpPr/>
          <p:nvPr/>
        </p:nvSpPr>
        <p:spPr>
          <a:xfrm flipV="1">
            <a:off x="6250838" y="2293315"/>
            <a:ext cx="1283818" cy="691286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Edge DE"/>
          <p:cNvSpPr/>
          <p:nvPr/>
        </p:nvSpPr>
        <p:spPr>
          <a:xfrm>
            <a:off x="7534656" y="2293315"/>
            <a:ext cx="625450" cy="1119226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0" name="Edge CE"/>
          <p:cNvSpPr/>
          <p:nvPr/>
        </p:nvSpPr>
        <p:spPr>
          <a:xfrm>
            <a:off x="6250838" y="2984602"/>
            <a:ext cx="1909267" cy="427939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1" name="Weight pill AB"/>
          <p:cNvSpPr/>
          <p:nvPr/>
        </p:nvSpPr>
        <p:spPr>
          <a:xfrm>
            <a:off x="5517490" y="1786738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2" name="Weight AB"/>
          <p:cNvSpPr txBox="1"/>
          <p:nvPr/>
        </p:nvSpPr>
        <p:spPr>
          <a:xfrm>
            <a:off x="5517490" y="178673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Weight pill AC"/>
          <p:cNvSpPr/>
          <p:nvPr/>
        </p:nvSpPr>
        <p:spPr>
          <a:xfrm>
            <a:off x="5533949" y="2412187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4" name="Weight AC"/>
          <p:cNvSpPr txBox="1"/>
          <p:nvPr/>
        </p:nvSpPr>
        <p:spPr>
          <a:xfrm>
            <a:off x="5533949" y="241218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Weight pill BC"/>
          <p:cNvSpPr/>
          <p:nvPr/>
        </p:nvSpPr>
        <p:spPr>
          <a:xfrm>
            <a:off x="6060643" y="2231136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6" name="Weight BC"/>
          <p:cNvSpPr txBox="1"/>
          <p:nvPr/>
        </p:nvSpPr>
        <p:spPr>
          <a:xfrm>
            <a:off x="6060643" y="22311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Weight pill BD"/>
          <p:cNvSpPr/>
          <p:nvPr/>
        </p:nvSpPr>
        <p:spPr>
          <a:xfrm>
            <a:off x="6702552" y="1885493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8" name="Weight BD"/>
          <p:cNvSpPr txBox="1"/>
          <p:nvPr/>
        </p:nvSpPr>
        <p:spPr>
          <a:xfrm>
            <a:off x="6702552" y="1885493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Weight pill CD"/>
          <p:cNvSpPr/>
          <p:nvPr/>
        </p:nvSpPr>
        <p:spPr>
          <a:xfrm>
            <a:off x="6719011" y="2510942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0" name="Weight CD"/>
          <p:cNvSpPr txBox="1"/>
          <p:nvPr/>
        </p:nvSpPr>
        <p:spPr>
          <a:xfrm>
            <a:off x="6719011" y="251094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Weight pill DE"/>
          <p:cNvSpPr/>
          <p:nvPr/>
        </p:nvSpPr>
        <p:spPr>
          <a:xfrm>
            <a:off x="7673645" y="2724912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2" name="Weight DE"/>
          <p:cNvSpPr txBox="1"/>
          <p:nvPr/>
        </p:nvSpPr>
        <p:spPr>
          <a:xfrm>
            <a:off x="7673645" y="272491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Weight pill CE"/>
          <p:cNvSpPr/>
          <p:nvPr/>
        </p:nvSpPr>
        <p:spPr>
          <a:xfrm>
            <a:off x="7031736" y="3070555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4" name="Weight CE"/>
          <p:cNvSpPr txBox="1"/>
          <p:nvPr/>
        </p:nvSpPr>
        <p:spPr>
          <a:xfrm>
            <a:off x="7031736" y="3070555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Node A"/>
          <p:cNvSpPr/>
          <p:nvPr/>
        </p:nvSpPr>
        <p:spPr>
          <a:xfrm>
            <a:off x="4945075" y="1876349"/>
            <a:ext cx="438912" cy="43891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6" name="Label A"/>
          <p:cNvSpPr txBox="1"/>
          <p:nvPr/>
        </p:nvSpPr>
        <p:spPr>
          <a:xfrm>
            <a:off x="4945075" y="187634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27" name="Node B"/>
          <p:cNvSpPr/>
          <p:nvPr/>
        </p:nvSpPr>
        <p:spPr>
          <a:xfrm>
            <a:off x="5998464" y="1514246"/>
            <a:ext cx="438912" cy="43891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8" name="Label B"/>
          <p:cNvSpPr txBox="1"/>
          <p:nvPr/>
        </p:nvSpPr>
        <p:spPr>
          <a:xfrm>
            <a:off x="5998464" y="151424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29" name="Node C"/>
          <p:cNvSpPr/>
          <p:nvPr/>
        </p:nvSpPr>
        <p:spPr>
          <a:xfrm>
            <a:off x="6031382" y="2765146"/>
            <a:ext cx="438912" cy="43891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0" name="Label C"/>
          <p:cNvSpPr txBox="1"/>
          <p:nvPr/>
        </p:nvSpPr>
        <p:spPr>
          <a:xfrm>
            <a:off x="6031382" y="276514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31" name="Node D"/>
          <p:cNvSpPr/>
          <p:nvPr/>
        </p:nvSpPr>
        <p:spPr>
          <a:xfrm>
            <a:off x="7315200" y="2073859"/>
            <a:ext cx="438912" cy="43891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2" name="Label D"/>
          <p:cNvSpPr txBox="1"/>
          <p:nvPr/>
        </p:nvSpPr>
        <p:spPr>
          <a:xfrm>
            <a:off x="7315200" y="207385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D</a:t>
            </a:r>
            <a:endParaRPr lang="en-US" sz="1500" dirty="0"/>
          </a:p>
        </p:txBody>
      </p:sp>
      <p:sp>
        <p:nvSpPr>
          <p:cNvPr id="33" name="Node E"/>
          <p:cNvSpPr/>
          <p:nvPr/>
        </p:nvSpPr>
        <p:spPr>
          <a:xfrm>
            <a:off x="7940650" y="3193085"/>
            <a:ext cx="438912" cy="43891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4" name="Label E"/>
          <p:cNvSpPr txBox="1"/>
          <p:nvPr/>
        </p:nvSpPr>
        <p:spPr>
          <a:xfrm>
            <a:off x="7940650" y="319308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E</a:t>
            </a:r>
            <a:endParaRPr lang="en-US" sz="1500" dirty="0"/>
          </a:p>
        </p:txBody>
      </p:sp>
      <p:sp>
        <p:nvSpPr>
          <p:cNvPr id="35" name="Sort caption"/>
          <p:cNvSpPr txBox="1"/>
          <p:nvPr/>
        </p:nvSpPr>
        <p:spPr>
          <a:xfrm>
            <a:off x="4572000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Smallest weight first. Ties can be broken in any order.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Union-Find: checking for cycles fast</a:t>
            </a:r>
            <a:endParaRPr lang="en-US" sz="3200" dirty="0"/>
          </a:p>
        </p:txBody>
      </p:sp>
      <p:sp>
        <p:nvSpPr>
          <p:cNvPr id="3" name="Find card"/>
          <p:cNvSpPr/>
          <p:nvPr/>
        </p:nvSpPr>
        <p:spPr>
          <a:xfrm>
            <a:off x="457200" y="1280160"/>
            <a:ext cx="3291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Find title"/>
          <p:cNvSpPr txBox="1"/>
          <p:nvPr/>
        </p:nvSpPr>
        <p:spPr>
          <a:xfrm>
            <a:off x="64008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FIND(x)</a:t>
            </a:r>
            <a:endParaRPr lang="en-US" sz="1800" dirty="0"/>
          </a:p>
        </p:txBody>
      </p:sp>
      <p:sp>
        <p:nvSpPr>
          <p:cNvPr id="5" name="Find text"/>
          <p:cNvSpPr txBox="1"/>
          <p:nvPr/>
        </p:nvSpPr>
        <p:spPr>
          <a:xfrm>
            <a:off x="64008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Which set does vertex x belong to?</a:t>
            </a:r>
            <a:endParaRPr lang="en-US" sz="1400" dirty="0"/>
          </a:p>
        </p:txBody>
      </p:sp>
      <p:sp>
        <p:nvSpPr>
          <p:cNvPr id="6" name="Union card"/>
          <p:cNvSpPr/>
          <p:nvPr/>
        </p:nvSpPr>
        <p:spPr>
          <a:xfrm>
            <a:off x="457200" y="2468880"/>
            <a:ext cx="32918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Union title"/>
          <p:cNvSpPr txBox="1"/>
          <p:nvPr/>
        </p:nvSpPr>
        <p:spPr>
          <a:xfrm>
            <a:off x="64008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UNION(x, y)</a:t>
            </a:r>
            <a:endParaRPr lang="en-US" sz="1800" dirty="0"/>
          </a:p>
        </p:txBody>
      </p:sp>
      <p:sp>
        <p:nvSpPr>
          <p:cNvPr id="8" name="Union text"/>
          <p:cNvSpPr txBox="1"/>
          <p:nvPr/>
        </p:nvSpPr>
        <p:spPr>
          <a:xfrm>
            <a:off x="640080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Merge the sets of x and y into one.</a:t>
            </a:r>
            <a:endParaRPr lang="en-US" sz="1400" dirty="0"/>
          </a:p>
        </p:txBody>
      </p:sp>
      <p:sp>
        <p:nvSpPr>
          <p:cNvPr id="9" name="Rule card"/>
          <p:cNvSpPr/>
          <p:nvPr/>
        </p:nvSpPr>
        <p:spPr>
          <a:xfrm>
            <a:off x="457200" y="3657600"/>
            <a:ext cx="32918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</p:sp>
      <p:sp>
        <p:nvSpPr>
          <p:cNvPr id="10" name="Rule text"/>
          <p:cNvSpPr txBox="1"/>
          <p:nvPr/>
        </p:nvSpPr>
        <p:spPr>
          <a:xfrm>
            <a:off x="64008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Same set means a cycle. Reject the edge.</a:t>
            </a:r>
            <a:endParaRPr lang="en-US" sz="1600" dirty="0"/>
          </a:p>
        </p:txBody>
      </p:sp>
      <p:graphicFrame>
        <p:nvGraphicFramePr>
          <p:cNvPr id="11" name="Disjoint se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280160"/>
          <a:ext cx="466344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After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Disjoint sets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{A}  {B}  {C}  {D}  {E}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Union(C, 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{C, D}  {A}  {B}  {E}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Union(A, 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{A, B}  {C, D}  {E}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Union(B, 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{A, B, C, D}  {E}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Union(D, 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{A, B, C, D, E}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ets caption"/>
          <p:cNvSpPr txBox="1"/>
          <p:nvPr/>
        </p:nvSpPr>
        <p:spPr>
          <a:xfrm>
            <a:off x="402336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Each vertex starts alone. Every accepted edge merges two sets.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Accepting the cheapest edges</a:t>
            </a:r>
            <a:endParaRPr lang="en-US" sz="3200" dirty="0"/>
          </a:p>
        </p:txBody>
      </p:sp>
      <p:sp>
        <p:nvSpPr>
          <p:cNvPr id="3" name="Edge AB"/>
          <p:cNvSpPr/>
          <p:nvPr/>
        </p:nvSpPr>
        <p:spPr>
          <a:xfrm flipV="1">
            <a:off x="1007669" y="1718158"/>
            <a:ext cx="1141171" cy="392278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4" name="Edge AC"/>
          <p:cNvSpPr/>
          <p:nvPr/>
        </p:nvSpPr>
        <p:spPr>
          <a:xfrm>
            <a:off x="1007669" y="2110435"/>
            <a:ext cx="1176833" cy="962863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Edge BC"/>
          <p:cNvSpPr/>
          <p:nvPr/>
        </p:nvSpPr>
        <p:spPr>
          <a:xfrm>
            <a:off x="2148840" y="1718158"/>
            <a:ext cx="35662" cy="1355141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6" name="Edge BD"/>
          <p:cNvSpPr/>
          <p:nvPr/>
        </p:nvSpPr>
        <p:spPr>
          <a:xfrm>
            <a:off x="2148840" y="1718158"/>
            <a:ext cx="1426464" cy="606247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Edge CD"/>
          <p:cNvSpPr/>
          <p:nvPr/>
        </p:nvSpPr>
        <p:spPr>
          <a:xfrm flipV="1">
            <a:off x="2184502" y="2324405"/>
            <a:ext cx="1390802" cy="748894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8" name="Edge DE"/>
          <p:cNvSpPr/>
          <p:nvPr/>
        </p:nvSpPr>
        <p:spPr>
          <a:xfrm>
            <a:off x="3575304" y="2324405"/>
            <a:ext cx="677570" cy="121249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Edge CE"/>
          <p:cNvSpPr/>
          <p:nvPr/>
        </p:nvSpPr>
        <p:spPr>
          <a:xfrm>
            <a:off x="2184502" y="3073298"/>
            <a:ext cx="2068373" cy="463601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0" name="Weight pill AB"/>
          <p:cNvSpPr/>
          <p:nvPr/>
        </p:nvSpPr>
        <p:spPr>
          <a:xfrm>
            <a:off x="1404518" y="1786280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Weight AB"/>
          <p:cNvSpPr txBox="1"/>
          <p:nvPr/>
        </p:nvSpPr>
        <p:spPr>
          <a:xfrm>
            <a:off x="1404518" y="17862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Weight pill AC"/>
          <p:cNvSpPr/>
          <p:nvPr/>
        </p:nvSpPr>
        <p:spPr>
          <a:xfrm>
            <a:off x="1422349" y="2463851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3" name="Weight AC"/>
          <p:cNvSpPr txBox="1"/>
          <p:nvPr/>
        </p:nvSpPr>
        <p:spPr>
          <a:xfrm>
            <a:off x="1422349" y="246385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Weight pill BC"/>
          <p:cNvSpPr/>
          <p:nvPr/>
        </p:nvSpPr>
        <p:spPr>
          <a:xfrm>
            <a:off x="1992935" y="2267712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Weight BC"/>
          <p:cNvSpPr txBox="1"/>
          <p:nvPr/>
        </p:nvSpPr>
        <p:spPr>
          <a:xfrm>
            <a:off x="1992935" y="226771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Weight pill BD"/>
          <p:cNvSpPr/>
          <p:nvPr/>
        </p:nvSpPr>
        <p:spPr>
          <a:xfrm>
            <a:off x="2688336" y="1893265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7" name="Weight BD"/>
          <p:cNvSpPr txBox="1"/>
          <p:nvPr/>
        </p:nvSpPr>
        <p:spPr>
          <a:xfrm>
            <a:off x="2688336" y="1893265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Weight pill CD"/>
          <p:cNvSpPr/>
          <p:nvPr/>
        </p:nvSpPr>
        <p:spPr>
          <a:xfrm>
            <a:off x="2706167" y="2570836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Weight CD"/>
          <p:cNvSpPr txBox="1"/>
          <p:nvPr/>
        </p:nvSpPr>
        <p:spPr>
          <a:xfrm>
            <a:off x="2706167" y="25708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Weight pill DE"/>
          <p:cNvSpPr/>
          <p:nvPr/>
        </p:nvSpPr>
        <p:spPr>
          <a:xfrm>
            <a:off x="3740353" y="2802636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1" name="Weight DE"/>
          <p:cNvSpPr txBox="1"/>
          <p:nvPr/>
        </p:nvSpPr>
        <p:spPr>
          <a:xfrm>
            <a:off x="3740353" y="28026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Weight pill CE"/>
          <p:cNvSpPr/>
          <p:nvPr/>
        </p:nvSpPr>
        <p:spPr>
          <a:xfrm>
            <a:off x="3044952" y="3177083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3" name="Weight CE"/>
          <p:cNvSpPr txBox="1"/>
          <p:nvPr/>
        </p:nvSpPr>
        <p:spPr>
          <a:xfrm>
            <a:off x="3044952" y="3177083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Node A"/>
          <p:cNvSpPr/>
          <p:nvPr/>
        </p:nvSpPr>
        <p:spPr>
          <a:xfrm>
            <a:off x="788213" y="1890979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5" name="Label A"/>
          <p:cNvSpPr txBox="1"/>
          <p:nvPr/>
        </p:nvSpPr>
        <p:spPr>
          <a:xfrm>
            <a:off x="788213" y="189097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26" name="Node B"/>
          <p:cNvSpPr/>
          <p:nvPr/>
        </p:nvSpPr>
        <p:spPr>
          <a:xfrm>
            <a:off x="1929384" y="1498702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7" name="Label B"/>
          <p:cNvSpPr txBox="1"/>
          <p:nvPr/>
        </p:nvSpPr>
        <p:spPr>
          <a:xfrm>
            <a:off x="1929384" y="149870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28" name="Node C"/>
          <p:cNvSpPr/>
          <p:nvPr/>
        </p:nvSpPr>
        <p:spPr>
          <a:xfrm>
            <a:off x="1965046" y="2853842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9" name="Label C"/>
          <p:cNvSpPr txBox="1"/>
          <p:nvPr/>
        </p:nvSpPr>
        <p:spPr>
          <a:xfrm>
            <a:off x="1965046" y="285384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30" name="Node D"/>
          <p:cNvSpPr/>
          <p:nvPr/>
        </p:nvSpPr>
        <p:spPr>
          <a:xfrm>
            <a:off x="3355848" y="2104949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1" name="Label D"/>
          <p:cNvSpPr txBox="1"/>
          <p:nvPr/>
        </p:nvSpPr>
        <p:spPr>
          <a:xfrm>
            <a:off x="3355848" y="210494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</a:t>
            </a:r>
            <a:endParaRPr lang="en-US" sz="1500" dirty="0"/>
          </a:p>
        </p:txBody>
      </p:sp>
      <p:sp>
        <p:nvSpPr>
          <p:cNvPr id="32" name="Node E"/>
          <p:cNvSpPr/>
          <p:nvPr/>
        </p:nvSpPr>
        <p:spPr>
          <a:xfrm>
            <a:off x="4033418" y="3317443"/>
            <a:ext cx="438912" cy="438912"/>
          </a:xfrm>
          <a:prstGeom prst="ellipse">
            <a:avLst/>
          </a:prstGeom>
          <a:solidFill>
            <a:schemeClr val="accent6"/>
          </a:solidFill>
          <a:ln w="31750">
            <a:solidFill>
              <a:schemeClr val="accent6"/>
            </a:solidFill>
            <a:prstDash val="solid"/>
          </a:ln>
        </p:spPr>
      </p:sp>
      <p:sp>
        <p:nvSpPr>
          <p:cNvPr id="33" name="Label E"/>
          <p:cNvSpPr txBox="1"/>
          <p:nvPr/>
        </p:nvSpPr>
        <p:spPr>
          <a:xfrm>
            <a:off x="4033418" y="331744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</a:t>
            </a:r>
            <a:endParaRPr lang="en-US" sz="1500" dirty="0"/>
          </a:p>
        </p:txBody>
      </p:sp>
      <p:sp>
        <p:nvSpPr>
          <p:cNvPr id="34" name="Accept card 1"/>
          <p:cNvSpPr/>
          <p:nvPr/>
        </p:nvSpPr>
        <p:spPr>
          <a:xfrm>
            <a:off x="4663440" y="132588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5" name="Accept title 1"/>
          <p:cNvSpPr txBox="1"/>
          <p:nvPr/>
        </p:nvSpPr>
        <p:spPr>
          <a:xfrm>
            <a:off x="484632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 – D  (1)</a:t>
            </a:r>
            <a:endParaRPr lang="en-US" sz="1800" dirty="0"/>
          </a:p>
        </p:txBody>
      </p:sp>
      <p:sp>
        <p:nvSpPr>
          <p:cNvPr id="36" name="Accept tag 1"/>
          <p:cNvSpPr txBox="1"/>
          <p:nvPr/>
        </p:nvSpPr>
        <p:spPr>
          <a:xfrm>
            <a:off x="7315200" y="14447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Accepted</a:t>
            </a:r>
            <a:endParaRPr lang="en-US" sz="1200" dirty="0"/>
          </a:p>
        </p:txBody>
      </p:sp>
      <p:sp>
        <p:nvSpPr>
          <p:cNvPr id="37" name="Accept text 1"/>
          <p:cNvSpPr txBox="1"/>
          <p:nvPr/>
        </p:nvSpPr>
        <p:spPr>
          <a:xfrm>
            <a:off x="4846320" y="176479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 and D are in different sets, so no cycle. Accept.</a:t>
            </a:r>
            <a:endParaRPr lang="en-US" sz="1400" dirty="0"/>
          </a:p>
        </p:txBody>
      </p:sp>
      <p:sp>
        <p:nvSpPr>
          <p:cNvPr id="38" name="Accept card 2"/>
          <p:cNvSpPr/>
          <p:nvPr/>
        </p:nvSpPr>
        <p:spPr>
          <a:xfrm>
            <a:off x="4663440" y="237744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9" name="Accept title 2"/>
          <p:cNvSpPr txBox="1"/>
          <p:nvPr/>
        </p:nvSpPr>
        <p:spPr>
          <a:xfrm>
            <a:off x="484632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– B  (2)</a:t>
            </a:r>
            <a:endParaRPr lang="en-US" sz="1800" dirty="0"/>
          </a:p>
        </p:txBody>
      </p:sp>
      <p:sp>
        <p:nvSpPr>
          <p:cNvPr id="40" name="Accept tag 2"/>
          <p:cNvSpPr txBox="1"/>
          <p:nvPr/>
        </p:nvSpPr>
        <p:spPr>
          <a:xfrm>
            <a:off x="7315200" y="24963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Accepted</a:t>
            </a:r>
            <a:endParaRPr lang="en-US" sz="1200" dirty="0"/>
          </a:p>
        </p:txBody>
      </p:sp>
      <p:sp>
        <p:nvSpPr>
          <p:cNvPr id="41" name="Accept text 2"/>
          <p:cNvSpPr txBox="1"/>
          <p:nvPr/>
        </p:nvSpPr>
        <p:spPr>
          <a:xfrm>
            <a:off x="4846320" y="28163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and B are in different sets. Accept.</a:t>
            </a:r>
            <a:endParaRPr lang="en-US" sz="1400" dirty="0"/>
          </a:p>
        </p:txBody>
      </p:sp>
      <p:sp>
        <p:nvSpPr>
          <p:cNvPr id="42" name="Accept card 3"/>
          <p:cNvSpPr/>
          <p:nvPr/>
        </p:nvSpPr>
        <p:spPr>
          <a:xfrm>
            <a:off x="4663440" y="342900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3" name="Accept title 3"/>
          <p:cNvSpPr txBox="1"/>
          <p:nvPr/>
        </p:nvSpPr>
        <p:spPr>
          <a:xfrm>
            <a:off x="484632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 – C  (3)</a:t>
            </a:r>
            <a:endParaRPr lang="en-US" sz="1800" dirty="0"/>
          </a:p>
        </p:txBody>
      </p:sp>
      <p:sp>
        <p:nvSpPr>
          <p:cNvPr id="44" name="Accept tag 3"/>
          <p:cNvSpPr txBox="1"/>
          <p:nvPr/>
        </p:nvSpPr>
        <p:spPr>
          <a:xfrm>
            <a:off x="7315200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Accepted</a:t>
            </a:r>
            <a:endParaRPr lang="en-US" sz="1200" dirty="0"/>
          </a:p>
        </p:txBody>
      </p:sp>
      <p:sp>
        <p:nvSpPr>
          <p:cNvPr id="45" name="Accept text 3"/>
          <p:cNvSpPr txBox="1"/>
          <p:nvPr/>
        </p:nvSpPr>
        <p:spPr>
          <a:xfrm>
            <a:off x="4846320" y="386791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 is in {A, B}, C is in {C, D}. Different sets. Accept and merge them.</a:t>
            </a:r>
            <a:endParaRPr lang="en-US" sz="1400" dirty="0"/>
          </a:p>
        </p:txBody>
      </p:sp>
      <p:sp>
        <p:nvSpPr>
          <p:cNvPr id="46" name="Sets note"/>
          <p:cNvSpPr txBox="1"/>
          <p:nvPr/>
        </p:nvSpPr>
        <p:spPr>
          <a:xfrm>
            <a:off x="457200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Colors show the current sets: A, B, C and D are now one set; E is still alone.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Rejecting edges that form cycles</a:t>
            </a:r>
            <a:endParaRPr lang="en-US" sz="3200" dirty="0"/>
          </a:p>
        </p:txBody>
      </p:sp>
      <p:sp>
        <p:nvSpPr>
          <p:cNvPr id="3" name="Edge AB"/>
          <p:cNvSpPr/>
          <p:nvPr/>
        </p:nvSpPr>
        <p:spPr>
          <a:xfrm flipV="1">
            <a:off x="1007669" y="1718158"/>
            <a:ext cx="1141171" cy="392278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4" name="Edge AC"/>
          <p:cNvSpPr/>
          <p:nvPr/>
        </p:nvSpPr>
        <p:spPr>
          <a:xfrm>
            <a:off x="1007669" y="2110435"/>
            <a:ext cx="1176833" cy="962863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</a:ln>
        </p:spPr>
      </p:sp>
      <p:sp>
        <p:nvSpPr>
          <p:cNvPr id="5" name="Edge BC"/>
          <p:cNvSpPr/>
          <p:nvPr/>
        </p:nvSpPr>
        <p:spPr>
          <a:xfrm>
            <a:off x="2148840" y="1718158"/>
            <a:ext cx="35662" cy="1355141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6" name="Edge BD"/>
          <p:cNvSpPr/>
          <p:nvPr/>
        </p:nvSpPr>
        <p:spPr>
          <a:xfrm>
            <a:off x="2148840" y="1718158"/>
            <a:ext cx="1426464" cy="606247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</a:ln>
        </p:spPr>
      </p:sp>
      <p:sp>
        <p:nvSpPr>
          <p:cNvPr id="7" name="Edge CD"/>
          <p:cNvSpPr/>
          <p:nvPr/>
        </p:nvSpPr>
        <p:spPr>
          <a:xfrm flipV="1">
            <a:off x="2184502" y="2324405"/>
            <a:ext cx="1390802" cy="748894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8" name="Edge DE"/>
          <p:cNvSpPr/>
          <p:nvPr/>
        </p:nvSpPr>
        <p:spPr>
          <a:xfrm>
            <a:off x="3575304" y="2324405"/>
            <a:ext cx="677570" cy="121249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Edge CE"/>
          <p:cNvSpPr/>
          <p:nvPr/>
        </p:nvSpPr>
        <p:spPr>
          <a:xfrm>
            <a:off x="2184502" y="3073298"/>
            <a:ext cx="2068373" cy="463601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0" name="Weight pill AB"/>
          <p:cNvSpPr/>
          <p:nvPr/>
        </p:nvSpPr>
        <p:spPr>
          <a:xfrm>
            <a:off x="1404518" y="1786280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Weight AB"/>
          <p:cNvSpPr txBox="1"/>
          <p:nvPr/>
        </p:nvSpPr>
        <p:spPr>
          <a:xfrm>
            <a:off x="1404518" y="17862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Weight pill AC"/>
          <p:cNvSpPr/>
          <p:nvPr/>
        </p:nvSpPr>
        <p:spPr>
          <a:xfrm>
            <a:off x="1422349" y="2463851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3" name="Weight AC"/>
          <p:cNvSpPr txBox="1"/>
          <p:nvPr/>
        </p:nvSpPr>
        <p:spPr>
          <a:xfrm>
            <a:off x="1422349" y="246385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Weight pill BC"/>
          <p:cNvSpPr/>
          <p:nvPr/>
        </p:nvSpPr>
        <p:spPr>
          <a:xfrm>
            <a:off x="1992935" y="2267712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Weight BC"/>
          <p:cNvSpPr txBox="1"/>
          <p:nvPr/>
        </p:nvSpPr>
        <p:spPr>
          <a:xfrm>
            <a:off x="1992935" y="226771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Weight pill BD"/>
          <p:cNvSpPr/>
          <p:nvPr/>
        </p:nvSpPr>
        <p:spPr>
          <a:xfrm>
            <a:off x="2688336" y="1893265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7" name="Weight BD"/>
          <p:cNvSpPr txBox="1"/>
          <p:nvPr/>
        </p:nvSpPr>
        <p:spPr>
          <a:xfrm>
            <a:off x="2688336" y="1893265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Weight pill CD"/>
          <p:cNvSpPr/>
          <p:nvPr/>
        </p:nvSpPr>
        <p:spPr>
          <a:xfrm>
            <a:off x="2706167" y="2570836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Weight CD"/>
          <p:cNvSpPr txBox="1"/>
          <p:nvPr/>
        </p:nvSpPr>
        <p:spPr>
          <a:xfrm>
            <a:off x="2706167" y="25708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Weight pill DE"/>
          <p:cNvSpPr/>
          <p:nvPr/>
        </p:nvSpPr>
        <p:spPr>
          <a:xfrm>
            <a:off x="3740353" y="2802636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1" name="Weight DE"/>
          <p:cNvSpPr txBox="1"/>
          <p:nvPr/>
        </p:nvSpPr>
        <p:spPr>
          <a:xfrm>
            <a:off x="3740353" y="28026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Weight pill CE"/>
          <p:cNvSpPr/>
          <p:nvPr/>
        </p:nvSpPr>
        <p:spPr>
          <a:xfrm>
            <a:off x="3044952" y="3177083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3" name="Weight CE"/>
          <p:cNvSpPr txBox="1"/>
          <p:nvPr/>
        </p:nvSpPr>
        <p:spPr>
          <a:xfrm>
            <a:off x="3044952" y="3177083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Node A"/>
          <p:cNvSpPr/>
          <p:nvPr/>
        </p:nvSpPr>
        <p:spPr>
          <a:xfrm>
            <a:off x="788213" y="1890979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5" name="Label A"/>
          <p:cNvSpPr txBox="1"/>
          <p:nvPr/>
        </p:nvSpPr>
        <p:spPr>
          <a:xfrm>
            <a:off x="788213" y="189097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26" name="Node B"/>
          <p:cNvSpPr/>
          <p:nvPr/>
        </p:nvSpPr>
        <p:spPr>
          <a:xfrm>
            <a:off x="1929384" y="1498702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7" name="Label B"/>
          <p:cNvSpPr txBox="1"/>
          <p:nvPr/>
        </p:nvSpPr>
        <p:spPr>
          <a:xfrm>
            <a:off x="1929384" y="149870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28" name="Node C"/>
          <p:cNvSpPr/>
          <p:nvPr/>
        </p:nvSpPr>
        <p:spPr>
          <a:xfrm>
            <a:off x="1965046" y="2853842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9" name="Label C"/>
          <p:cNvSpPr txBox="1"/>
          <p:nvPr/>
        </p:nvSpPr>
        <p:spPr>
          <a:xfrm>
            <a:off x="1965046" y="285384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30" name="Node D"/>
          <p:cNvSpPr/>
          <p:nvPr/>
        </p:nvSpPr>
        <p:spPr>
          <a:xfrm>
            <a:off x="3355848" y="2104949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1" name="Label D"/>
          <p:cNvSpPr txBox="1"/>
          <p:nvPr/>
        </p:nvSpPr>
        <p:spPr>
          <a:xfrm>
            <a:off x="3355848" y="210494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</a:t>
            </a:r>
            <a:endParaRPr lang="en-US" sz="1500" dirty="0"/>
          </a:p>
        </p:txBody>
      </p:sp>
      <p:sp>
        <p:nvSpPr>
          <p:cNvPr id="32" name="Node E"/>
          <p:cNvSpPr/>
          <p:nvPr/>
        </p:nvSpPr>
        <p:spPr>
          <a:xfrm>
            <a:off x="4033418" y="3317443"/>
            <a:ext cx="438912" cy="438912"/>
          </a:xfrm>
          <a:prstGeom prst="ellipse">
            <a:avLst/>
          </a:prstGeom>
          <a:solidFill>
            <a:schemeClr val="accent6"/>
          </a:solidFill>
          <a:ln w="31750">
            <a:solidFill>
              <a:schemeClr val="accent6"/>
            </a:solidFill>
            <a:prstDash val="solid"/>
          </a:ln>
        </p:spPr>
      </p:sp>
      <p:sp>
        <p:nvSpPr>
          <p:cNvPr id="33" name="Label E"/>
          <p:cNvSpPr txBox="1"/>
          <p:nvPr/>
        </p:nvSpPr>
        <p:spPr>
          <a:xfrm>
            <a:off x="4033418" y="331744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</a:t>
            </a:r>
            <a:endParaRPr lang="en-US" sz="1500" dirty="0"/>
          </a:p>
        </p:txBody>
      </p:sp>
      <p:sp>
        <p:nvSpPr>
          <p:cNvPr id="34" name="Reject card 1"/>
          <p:cNvSpPr/>
          <p:nvPr/>
        </p:nvSpPr>
        <p:spPr>
          <a:xfrm>
            <a:off x="4663440" y="132588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35" name="Reject title 1"/>
          <p:cNvSpPr txBox="1"/>
          <p:nvPr/>
        </p:nvSpPr>
        <p:spPr>
          <a:xfrm>
            <a:off x="48463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 – D  (4)</a:t>
            </a:r>
            <a:endParaRPr lang="en-US" sz="1800" dirty="0"/>
          </a:p>
        </p:txBody>
      </p:sp>
      <p:sp>
        <p:nvSpPr>
          <p:cNvPr id="36" name="Reject tag 1"/>
          <p:cNvSpPr txBox="1"/>
          <p:nvPr/>
        </p:nvSpPr>
        <p:spPr>
          <a:xfrm>
            <a:off x="7315200" y="14447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Rejected</a:t>
            </a:r>
            <a:endParaRPr lang="en-US" sz="1200" dirty="0"/>
          </a:p>
        </p:txBody>
      </p:sp>
      <p:sp>
        <p:nvSpPr>
          <p:cNvPr id="37" name="Reject text 1"/>
          <p:cNvSpPr txBox="1"/>
          <p:nvPr/>
        </p:nvSpPr>
        <p:spPr>
          <a:xfrm>
            <a:off x="4846320" y="17830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 and D are already connected through C. Adding it closes the cycle B – C – D.</a:t>
            </a:r>
            <a:endParaRPr lang="en-US" sz="1400" dirty="0"/>
          </a:p>
        </p:txBody>
      </p:sp>
      <p:sp>
        <p:nvSpPr>
          <p:cNvPr id="38" name="Reject card 2"/>
          <p:cNvSpPr/>
          <p:nvPr/>
        </p:nvSpPr>
        <p:spPr>
          <a:xfrm>
            <a:off x="4663440" y="269748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39" name="Reject title 2"/>
          <p:cNvSpPr txBox="1"/>
          <p:nvPr/>
        </p:nvSpPr>
        <p:spPr>
          <a:xfrm>
            <a:off x="484632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– C  (5)</a:t>
            </a:r>
            <a:endParaRPr lang="en-US" sz="1800" dirty="0"/>
          </a:p>
        </p:txBody>
      </p:sp>
      <p:sp>
        <p:nvSpPr>
          <p:cNvPr id="40" name="Reject tag 2"/>
          <p:cNvSpPr txBox="1"/>
          <p:nvPr/>
        </p:nvSpPr>
        <p:spPr>
          <a:xfrm>
            <a:off x="7315200" y="28163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Rejected</a:t>
            </a:r>
            <a:endParaRPr lang="en-US" sz="1200" dirty="0"/>
          </a:p>
        </p:txBody>
      </p:sp>
      <p:sp>
        <p:nvSpPr>
          <p:cNvPr id="41" name="Reject text 2"/>
          <p:cNvSpPr txBox="1"/>
          <p:nvPr/>
        </p:nvSpPr>
        <p:spPr>
          <a:xfrm>
            <a:off x="4846320" y="31546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and C are already connected through B. Adding it closes the cycle A – B – C.</a:t>
            </a:r>
            <a:endParaRPr lang="en-US" sz="1400" dirty="0"/>
          </a:p>
        </p:txBody>
      </p:sp>
      <p:sp>
        <p:nvSpPr>
          <p:cNvPr id="42" name="Reject note"/>
          <p:cNvSpPr txBox="1"/>
          <p:nvPr/>
        </p:nvSpPr>
        <p:spPr>
          <a:xfrm>
            <a:off x="466344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Find returns the same set for both ends, so the edge is skipped.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Stop after V − 1 edges</a:t>
            </a:r>
            <a:endParaRPr lang="en-US" sz="3200" dirty="0"/>
          </a:p>
        </p:txBody>
      </p:sp>
      <p:sp>
        <p:nvSpPr>
          <p:cNvPr id="3" name="Edge AB"/>
          <p:cNvSpPr/>
          <p:nvPr/>
        </p:nvSpPr>
        <p:spPr>
          <a:xfrm flipV="1">
            <a:off x="982980" y="1520190"/>
            <a:ext cx="1097280" cy="37719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4" name="Edge AC"/>
          <p:cNvSpPr/>
          <p:nvPr/>
        </p:nvSpPr>
        <p:spPr>
          <a:xfrm>
            <a:off x="982980" y="1897380"/>
            <a:ext cx="1131570" cy="92583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ysDot"/>
          </a:ln>
        </p:spPr>
      </p:sp>
      <p:sp>
        <p:nvSpPr>
          <p:cNvPr id="5" name="Edge BC"/>
          <p:cNvSpPr/>
          <p:nvPr/>
        </p:nvSpPr>
        <p:spPr>
          <a:xfrm>
            <a:off x="2080260" y="1520190"/>
            <a:ext cx="34290" cy="130302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6" name="Edge BD"/>
          <p:cNvSpPr/>
          <p:nvPr/>
        </p:nvSpPr>
        <p:spPr>
          <a:xfrm>
            <a:off x="2080260" y="1520190"/>
            <a:ext cx="1371600" cy="58293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ysDot"/>
          </a:ln>
        </p:spPr>
      </p:sp>
      <p:sp>
        <p:nvSpPr>
          <p:cNvPr id="7" name="Edge CD"/>
          <p:cNvSpPr/>
          <p:nvPr/>
        </p:nvSpPr>
        <p:spPr>
          <a:xfrm flipV="1">
            <a:off x="2114550" y="2103120"/>
            <a:ext cx="1337310" cy="72009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8" name="Edge DE"/>
          <p:cNvSpPr/>
          <p:nvPr/>
        </p:nvSpPr>
        <p:spPr>
          <a:xfrm>
            <a:off x="3451860" y="2103120"/>
            <a:ext cx="651510" cy="116586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9" name="Edge CE"/>
          <p:cNvSpPr/>
          <p:nvPr/>
        </p:nvSpPr>
        <p:spPr>
          <a:xfrm>
            <a:off x="2114550" y="2823210"/>
            <a:ext cx="1988820" cy="44577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ysDot"/>
          </a:ln>
        </p:spPr>
      </p:sp>
      <p:sp>
        <p:nvSpPr>
          <p:cNvPr id="10" name="Weight pill AB"/>
          <p:cNvSpPr/>
          <p:nvPr/>
        </p:nvSpPr>
        <p:spPr>
          <a:xfrm>
            <a:off x="1357884" y="1580769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Weight AB"/>
          <p:cNvSpPr txBox="1"/>
          <p:nvPr/>
        </p:nvSpPr>
        <p:spPr>
          <a:xfrm>
            <a:off x="1357884" y="1580769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Weight pill AC"/>
          <p:cNvSpPr/>
          <p:nvPr/>
        </p:nvSpPr>
        <p:spPr>
          <a:xfrm>
            <a:off x="1375029" y="2232279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3" name="Weight AC"/>
          <p:cNvSpPr txBox="1"/>
          <p:nvPr/>
        </p:nvSpPr>
        <p:spPr>
          <a:xfrm>
            <a:off x="1375029" y="2232279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Weight pill BC"/>
          <p:cNvSpPr/>
          <p:nvPr/>
        </p:nvSpPr>
        <p:spPr>
          <a:xfrm>
            <a:off x="1923669" y="2043684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Weight BC"/>
          <p:cNvSpPr txBox="1"/>
          <p:nvPr/>
        </p:nvSpPr>
        <p:spPr>
          <a:xfrm>
            <a:off x="1923669" y="20436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Weight pill BD"/>
          <p:cNvSpPr/>
          <p:nvPr/>
        </p:nvSpPr>
        <p:spPr>
          <a:xfrm>
            <a:off x="2592324" y="1683639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7" name="Weight BD"/>
          <p:cNvSpPr txBox="1"/>
          <p:nvPr/>
        </p:nvSpPr>
        <p:spPr>
          <a:xfrm>
            <a:off x="2592324" y="1683639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Weight pill CD"/>
          <p:cNvSpPr/>
          <p:nvPr/>
        </p:nvSpPr>
        <p:spPr>
          <a:xfrm>
            <a:off x="2609469" y="2335149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Weight CD"/>
          <p:cNvSpPr txBox="1"/>
          <p:nvPr/>
        </p:nvSpPr>
        <p:spPr>
          <a:xfrm>
            <a:off x="2609469" y="2335149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Weight pill DE"/>
          <p:cNvSpPr/>
          <p:nvPr/>
        </p:nvSpPr>
        <p:spPr>
          <a:xfrm>
            <a:off x="3603879" y="2558034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Weight DE"/>
          <p:cNvSpPr txBox="1"/>
          <p:nvPr/>
        </p:nvSpPr>
        <p:spPr>
          <a:xfrm>
            <a:off x="3603879" y="255803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Weight pill CE"/>
          <p:cNvSpPr/>
          <p:nvPr/>
        </p:nvSpPr>
        <p:spPr>
          <a:xfrm>
            <a:off x="2935224" y="2918079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3" name="Weight CE"/>
          <p:cNvSpPr txBox="1"/>
          <p:nvPr/>
        </p:nvSpPr>
        <p:spPr>
          <a:xfrm>
            <a:off x="2935224" y="2918079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Node A"/>
          <p:cNvSpPr/>
          <p:nvPr/>
        </p:nvSpPr>
        <p:spPr>
          <a:xfrm>
            <a:off x="763524" y="1677924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5" name="Label A"/>
          <p:cNvSpPr txBox="1"/>
          <p:nvPr/>
        </p:nvSpPr>
        <p:spPr>
          <a:xfrm>
            <a:off x="763524" y="16779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26" name="Node B"/>
          <p:cNvSpPr/>
          <p:nvPr/>
        </p:nvSpPr>
        <p:spPr>
          <a:xfrm>
            <a:off x="1860804" y="1300734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7" name="Label B"/>
          <p:cNvSpPr txBox="1"/>
          <p:nvPr/>
        </p:nvSpPr>
        <p:spPr>
          <a:xfrm>
            <a:off x="1860804" y="130073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28" name="Node C"/>
          <p:cNvSpPr/>
          <p:nvPr/>
        </p:nvSpPr>
        <p:spPr>
          <a:xfrm>
            <a:off x="1895094" y="2603754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9" name="Label C"/>
          <p:cNvSpPr txBox="1"/>
          <p:nvPr/>
        </p:nvSpPr>
        <p:spPr>
          <a:xfrm>
            <a:off x="1895094" y="260375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30" name="Node D"/>
          <p:cNvSpPr/>
          <p:nvPr/>
        </p:nvSpPr>
        <p:spPr>
          <a:xfrm>
            <a:off x="3232404" y="1883664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1" name="Label D"/>
          <p:cNvSpPr txBox="1"/>
          <p:nvPr/>
        </p:nvSpPr>
        <p:spPr>
          <a:xfrm>
            <a:off x="3232404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</a:t>
            </a:r>
            <a:endParaRPr lang="en-US" sz="1500" dirty="0"/>
          </a:p>
        </p:txBody>
      </p:sp>
      <p:sp>
        <p:nvSpPr>
          <p:cNvPr id="32" name="Node E"/>
          <p:cNvSpPr/>
          <p:nvPr/>
        </p:nvSpPr>
        <p:spPr>
          <a:xfrm>
            <a:off x="3883914" y="3049524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3" name="Label E"/>
          <p:cNvSpPr txBox="1"/>
          <p:nvPr/>
        </p:nvSpPr>
        <p:spPr>
          <a:xfrm>
            <a:off x="3883914" y="30495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</a:t>
            </a:r>
            <a:endParaRPr lang="en-US" sz="1500" dirty="0"/>
          </a:p>
        </p:txBody>
      </p:sp>
      <p:sp>
        <p:nvSpPr>
          <p:cNvPr id="34" name="Stop stat card"/>
          <p:cNvSpPr/>
          <p:nvPr/>
        </p:nvSpPr>
        <p:spPr>
          <a:xfrm>
            <a:off x="4754880" y="123444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5" name="Stop stat"/>
          <p:cNvSpPr txBox="1"/>
          <p:nvPr/>
        </p:nvSpPr>
        <p:spPr>
          <a:xfrm>
            <a:off x="4754880" y="1280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− 1 = 4</a:t>
            </a:r>
            <a:endParaRPr lang="en-US" sz="4000" dirty="0"/>
          </a:p>
        </p:txBody>
      </p:sp>
      <p:sp>
        <p:nvSpPr>
          <p:cNvPr id="36" name="Stop stat label"/>
          <p:cNvSpPr txBox="1"/>
          <p:nvPr/>
        </p:nvSpPr>
        <p:spPr>
          <a:xfrm>
            <a:off x="475488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5 vertices need 4 edges</a:t>
            </a:r>
            <a:endParaRPr lang="en-US" sz="1400" dirty="0"/>
          </a:p>
        </p:txBody>
      </p:sp>
      <p:sp>
        <p:nvSpPr>
          <p:cNvPr id="37" name="Stop text"/>
          <p:cNvSpPr txBox="1"/>
          <p:nvPr/>
        </p:nvSpPr>
        <p:spPr>
          <a:xfrm>
            <a:off x="4754880" y="2468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 – E (6) joins E to the rest. All vertices are now in one set, so we stop. C – E (7) is never examined.</a:t>
            </a:r>
            <a:endParaRPr lang="en-US" sz="1600" dirty="0"/>
          </a:p>
        </p:txBody>
      </p:sp>
      <p:sp>
        <p:nvSpPr>
          <p:cNvPr id="38" name="Progress box 1"/>
          <p:cNvSpPr/>
          <p:nvPr/>
        </p:nvSpPr>
        <p:spPr>
          <a:xfrm>
            <a:off x="457200" y="3840480"/>
            <a:ext cx="19202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</p:sp>
      <p:sp>
        <p:nvSpPr>
          <p:cNvPr id="39" name="Progress text 1"/>
          <p:cNvSpPr txBox="1"/>
          <p:nvPr/>
        </p:nvSpPr>
        <p:spPr>
          <a:xfrm>
            <a:off x="457200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 – D  1</a:t>
            </a:r>
            <a:endParaRPr lang="en-US" sz="1600" dirty="0"/>
          </a:p>
        </p:txBody>
      </p:sp>
      <p:sp>
        <p:nvSpPr>
          <p:cNvPr id="40" name="Progress box 2"/>
          <p:cNvSpPr/>
          <p:nvPr/>
        </p:nvSpPr>
        <p:spPr>
          <a:xfrm>
            <a:off x="2542032" y="3840480"/>
            <a:ext cx="19202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</p:sp>
      <p:sp>
        <p:nvSpPr>
          <p:cNvPr id="41" name="Progress text 2"/>
          <p:cNvSpPr txBox="1"/>
          <p:nvPr/>
        </p:nvSpPr>
        <p:spPr>
          <a:xfrm>
            <a:off x="2542032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 – B  2</a:t>
            </a:r>
            <a:endParaRPr lang="en-US" sz="1600" dirty="0"/>
          </a:p>
        </p:txBody>
      </p:sp>
      <p:sp>
        <p:nvSpPr>
          <p:cNvPr id="42" name="Progress box 3"/>
          <p:cNvSpPr/>
          <p:nvPr/>
        </p:nvSpPr>
        <p:spPr>
          <a:xfrm>
            <a:off x="4626864" y="3840480"/>
            <a:ext cx="19202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</p:sp>
      <p:sp>
        <p:nvSpPr>
          <p:cNvPr id="43" name="Progress text 3"/>
          <p:cNvSpPr txBox="1"/>
          <p:nvPr/>
        </p:nvSpPr>
        <p:spPr>
          <a:xfrm>
            <a:off x="4626864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 – C  3</a:t>
            </a:r>
            <a:endParaRPr lang="en-US" sz="1600" dirty="0"/>
          </a:p>
        </p:txBody>
      </p:sp>
      <p:sp>
        <p:nvSpPr>
          <p:cNvPr id="44" name="Progress box 4"/>
          <p:cNvSpPr/>
          <p:nvPr/>
        </p:nvSpPr>
        <p:spPr>
          <a:xfrm>
            <a:off x="6711696" y="3840480"/>
            <a:ext cx="19202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</p:sp>
      <p:sp>
        <p:nvSpPr>
          <p:cNvPr id="45" name="Progress text 4"/>
          <p:cNvSpPr txBox="1"/>
          <p:nvPr/>
        </p:nvSpPr>
        <p:spPr>
          <a:xfrm>
            <a:off x="6711696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 – E  6</a:t>
            </a:r>
            <a:endParaRPr lang="en-US" sz="16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Full trace of the algorithm</a:t>
            </a:r>
            <a:endParaRPr lang="en-US" sz="3200" dirty="0"/>
          </a:p>
        </p:txBody>
      </p:sp>
      <p:graphicFrame>
        <p:nvGraphicFramePr>
          <p:cNvPr id="11" name="Tra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Edge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Weight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Set of first vertex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Set of second vertex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– 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{C}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{D}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Accept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{A}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{B}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Accept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{A, B}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{C, D}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Accept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{A, B, C, D}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{A, B, C, D}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Reject: cycle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{A, B, C, D}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{A, B, C, D}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Reject: cycle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– 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{A, B, C, D}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{E}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Accept, 4 edges: stop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– 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Not needed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final Minimum Spanning Tree</a:t>
            </a:r>
            <a:endParaRPr lang="en-US" sz="3200" dirty="0"/>
          </a:p>
        </p:txBody>
      </p:sp>
      <p:sp>
        <p:nvSpPr>
          <p:cNvPr id="3" name="Edge AB"/>
          <p:cNvSpPr/>
          <p:nvPr/>
        </p:nvSpPr>
        <p:spPr>
          <a:xfrm flipV="1">
            <a:off x="1193292" y="1757934"/>
            <a:ext cx="1389888" cy="477774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4" name="Edge AC"/>
          <p:cNvSpPr/>
          <p:nvPr/>
        </p:nvSpPr>
        <p:spPr>
          <a:xfrm>
            <a:off x="1193292" y="2235708"/>
            <a:ext cx="1433322" cy="117271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ysDot"/>
          </a:ln>
        </p:spPr>
      </p:sp>
      <p:sp>
        <p:nvSpPr>
          <p:cNvPr id="5" name="Edge BC"/>
          <p:cNvSpPr/>
          <p:nvPr/>
        </p:nvSpPr>
        <p:spPr>
          <a:xfrm>
            <a:off x="2583180" y="1757934"/>
            <a:ext cx="43434" cy="1650492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6" name="Edge BD"/>
          <p:cNvSpPr/>
          <p:nvPr/>
        </p:nvSpPr>
        <p:spPr>
          <a:xfrm>
            <a:off x="2583180" y="1757934"/>
            <a:ext cx="1737360" cy="73837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ysDot"/>
          </a:ln>
        </p:spPr>
      </p:sp>
      <p:sp>
        <p:nvSpPr>
          <p:cNvPr id="7" name="Edge CD"/>
          <p:cNvSpPr/>
          <p:nvPr/>
        </p:nvSpPr>
        <p:spPr>
          <a:xfrm flipV="1">
            <a:off x="2626614" y="2496312"/>
            <a:ext cx="1693926" cy="912114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8" name="Edge DE"/>
          <p:cNvSpPr/>
          <p:nvPr/>
        </p:nvSpPr>
        <p:spPr>
          <a:xfrm>
            <a:off x="4320540" y="2496312"/>
            <a:ext cx="825246" cy="1476756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9" name="Edge CE"/>
          <p:cNvSpPr/>
          <p:nvPr/>
        </p:nvSpPr>
        <p:spPr>
          <a:xfrm>
            <a:off x="2626614" y="3408426"/>
            <a:ext cx="2519172" cy="56464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ysDot"/>
          </a:ln>
        </p:spPr>
      </p:sp>
      <p:sp>
        <p:nvSpPr>
          <p:cNvPr id="10" name="Weight pill AB"/>
          <p:cNvSpPr/>
          <p:nvPr/>
        </p:nvSpPr>
        <p:spPr>
          <a:xfrm>
            <a:off x="1714500" y="1868805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Weight AB"/>
          <p:cNvSpPr txBox="1"/>
          <p:nvPr/>
        </p:nvSpPr>
        <p:spPr>
          <a:xfrm>
            <a:off x="1714500" y="1868805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Weight pill AC"/>
          <p:cNvSpPr/>
          <p:nvPr/>
        </p:nvSpPr>
        <p:spPr>
          <a:xfrm>
            <a:off x="1736217" y="2694051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3" name="Weight AC"/>
          <p:cNvSpPr txBox="1"/>
          <p:nvPr/>
        </p:nvSpPr>
        <p:spPr>
          <a:xfrm>
            <a:off x="1736217" y="269405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Weight pill BC"/>
          <p:cNvSpPr/>
          <p:nvPr/>
        </p:nvSpPr>
        <p:spPr>
          <a:xfrm>
            <a:off x="2431161" y="2455164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Weight BC"/>
          <p:cNvSpPr txBox="1"/>
          <p:nvPr/>
        </p:nvSpPr>
        <p:spPr>
          <a:xfrm>
            <a:off x="2431161" y="24551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Weight pill BD"/>
          <p:cNvSpPr/>
          <p:nvPr/>
        </p:nvSpPr>
        <p:spPr>
          <a:xfrm>
            <a:off x="3278124" y="1999107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7" name="Weight BD"/>
          <p:cNvSpPr txBox="1"/>
          <p:nvPr/>
        </p:nvSpPr>
        <p:spPr>
          <a:xfrm>
            <a:off x="3278124" y="199910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Weight pill CD"/>
          <p:cNvSpPr/>
          <p:nvPr/>
        </p:nvSpPr>
        <p:spPr>
          <a:xfrm>
            <a:off x="3299841" y="2824353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Weight CD"/>
          <p:cNvSpPr txBox="1"/>
          <p:nvPr/>
        </p:nvSpPr>
        <p:spPr>
          <a:xfrm>
            <a:off x="3299841" y="2824353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Weight pill DE"/>
          <p:cNvSpPr/>
          <p:nvPr/>
        </p:nvSpPr>
        <p:spPr>
          <a:xfrm>
            <a:off x="4559427" y="3106674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Weight DE"/>
          <p:cNvSpPr txBox="1"/>
          <p:nvPr/>
        </p:nvSpPr>
        <p:spPr>
          <a:xfrm>
            <a:off x="4559427" y="310667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Weight pill CE"/>
          <p:cNvSpPr/>
          <p:nvPr/>
        </p:nvSpPr>
        <p:spPr>
          <a:xfrm>
            <a:off x="3712464" y="3562731"/>
            <a:ext cx="347472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3" name="Weight CE"/>
          <p:cNvSpPr txBox="1"/>
          <p:nvPr/>
        </p:nvSpPr>
        <p:spPr>
          <a:xfrm>
            <a:off x="3712464" y="356273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Node A"/>
          <p:cNvSpPr/>
          <p:nvPr/>
        </p:nvSpPr>
        <p:spPr>
          <a:xfrm>
            <a:off x="973836" y="2016252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5" name="Label A"/>
          <p:cNvSpPr txBox="1"/>
          <p:nvPr/>
        </p:nvSpPr>
        <p:spPr>
          <a:xfrm>
            <a:off x="973836" y="20162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26" name="Node B"/>
          <p:cNvSpPr/>
          <p:nvPr/>
        </p:nvSpPr>
        <p:spPr>
          <a:xfrm>
            <a:off x="2363724" y="1538478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7" name="Label B"/>
          <p:cNvSpPr txBox="1"/>
          <p:nvPr/>
        </p:nvSpPr>
        <p:spPr>
          <a:xfrm>
            <a:off x="2363724" y="153847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28" name="Node C"/>
          <p:cNvSpPr/>
          <p:nvPr/>
        </p:nvSpPr>
        <p:spPr>
          <a:xfrm>
            <a:off x="2407158" y="3188970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9" name="Label C"/>
          <p:cNvSpPr txBox="1"/>
          <p:nvPr/>
        </p:nvSpPr>
        <p:spPr>
          <a:xfrm>
            <a:off x="2407158" y="318897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30" name="Node D"/>
          <p:cNvSpPr/>
          <p:nvPr/>
        </p:nvSpPr>
        <p:spPr>
          <a:xfrm>
            <a:off x="4101084" y="2276856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1" name="Label D"/>
          <p:cNvSpPr txBox="1"/>
          <p:nvPr/>
        </p:nvSpPr>
        <p:spPr>
          <a:xfrm>
            <a:off x="4101084" y="2276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</a:t>
            </a:r>
            <a:endParaRPr lang="en-US" sz="1500" dirty="0"/>
          </a:p>
        </p:txBody>
      </p:sp>
      <p:sp>
        <p:nvSpPr>
          <p:cNvPr id="32" name="Node E"/>
          <p:cNvSpPr/>
          <p:nvPr/>
        </p:nvSpPr>
        <p:spPr>
          <a:xfrm>
            <a:off x="4926330" y="3753612"/>
            <a:ext cx="438912" cy="438912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3" name="Label E"/>
          <p:cNvSpPr txBox="1"/>
          <p:nvPr/>
        </p:nvSpPr>
        <p:spPr>
          <a:xfrm>
            <a:off x="4926330" y="37536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</a:t>
            </a:r>
            <a:endParaRPr lang="en-US" sz="1500" dirty="0"/>
          </a:p>
        </p:txBody>
      </p:sp>
      <p:sp>
        <p:nvSpPr>
          <p:cNvPr id="34" name="Total weight card"/>
          <p:cNvSpPr/>
          <p:nvPr/>
        </p:nvSpPr>
        <p:spPr>
          <a:xfrm>
            <a:off x="5669280" y="1371600"/>
            <a:ext cx="3017520" cy="2286000"/>
          </a:xfrm>
          <a:prstGeom prst="roundRect">
            <a:avLst>
              <a:gd name="adj" fmla="val 3200"/>
            </a:avLst>
          </a:prstGeom>
          <a:solidFill>
            <a:schemeClr val="tx1"/>
          </a:solidFill>
          <a:ln/>
        </p:spPr>
      </p:sp>
      <p:sp>
        <p:nvSpPr>
          <p:cNvPr id="35" name="Total label"/>
          <p:cNvSpPr txBox="1"/>
          <p:nvPr/>
        </p:nvSpPr>
        <p:spPr>
          <a:xfrm>
            <a:off x="566928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Total weight</a:t>
            </a:r>
            <a:endParaRPr lang="en-US" sz="1400" dirty="0"/>
          </a:p>
        </p:txBody>
      </p:sp>
      <p:sp>
        <p:nvSpPr>
          <p:cNvPr id="36" name="Total value"/>
          <p:cNvSpPr txBox="1"/>
          <p:nvPr/>
        </p:nvSpPr>
        <p:spPr>
          <a:xfrm>
            <a:off x="5669280" y="1828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7200" dirty="0"/>
          </a:p>
        </p:txBody>
      </p:sp>
      <p:sp>
        <p:nvSpPr>
          <p:cNvPr id="37" name="Total sum"/>
          <p:cNvSpPr txBox="1"/>
          <p:nvPr/>
        </p:nvSpPr>
        <p:spPr>
          <a:xfrm>
            <a:off x="566928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+ 2 + 3 + 6</a:t>
            </a:r>
            <a:endParaRPr lang="en-US" sz="1800" dirty="0"/>
          </a:p>
        </p:txBody>
      </p:sp>
      <p:sp>
        <p:nvSpPr>
          <p:cNvPr id="38" name="Edge list"/>
          <p:cNvSpPr txBox="1"/>
          <p:nvPr/>
        </p:nvSpPr>
        <p:spPr>
          <a:xfrm>
            <a:off x="566928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Edges: C–D, A–B, B–C, D–E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algorithm in five steps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80160"/>
            <a:ext cx="1508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Step number badge 1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text 1"/>
          <p:cNvSpPr txBox="1"/>
          <p:nvPr/>
        </p:nvSpPr>
        <p:spPr>
          <a:xfrm>
            <a:off x="548640" y="18288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Sort edges</a:t>
            </a:r>
            <a:endParaRPr lang="en-US" sz="1600" dirty="0"/>
          </a:p>
        </p:txBody>
      </p:sp>
      <p:sp>
        <p:nvSpPr>
          <p:cNvPr id="7" name="Step arrow 1"/>
          <p:cNvSpPr/>
          <p:nvPr/>
        </p:nvSpPr>
        <p:spPr>
          <a:xfrm>
            <a:off x="1984248" y="1828800"/>
            <a:ext cx="146304" cy="2286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8" name="Step card 2"/>
          <p:cNvSpPr/>
          <p:nvPr/>
        </p:nvSpPr>
        <p:spPr>
          <a:xfrm>
            <a:off x="2148840" y="1280160"/>
            <a:ext cx="1508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Step number badge 2"/>
          <p:cNvSpPr/>
          <p:nvPr/>
        </p:nvSpPr>
        <p:spPr>
          <a:xfrm>
            <a:off x="2240280" y="13716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number 2"/>
          <p:cNvSpPr txBox="1"/>
          <p:nvPr/>
        </p:nvSpPr>
        <p:spPr>
          <a:xfrm>
            <a:off x="22402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 text 2"/>
          <p:cNvSpPr txBox="1"/>
          <p:nvPr/>
        </p:nvSpPr>
        <p:spPr>
          <a:xfrm>
            <a:off x="2240280" y="18288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Pick smallest</a:t>
            </a:r>
            <a:endParaRPr lang="en-US" sz="1600" dirty="0"/>
          </a:p>
        </p:txBody>
      </p:sp>
      <p:sp>
        <p:nvSpPr>
          <p:cNvPr id="12" name="Step arrow 2"/>
          <p:cNvSpPr/>
          <p:nvPr/>
        </p:nvSpPr>
        <p:spPr>
          <a:xfrm>
            <a:off x="3675888" y="1828800"/>
            <a:ext cx="146304" cy="2286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3" name="Step card 3"/>
          <p:cNvSpPr/>
          <p:nvPr/>
        </p:nvSpPr>
        <p:spPr>
          <a:xfrm>
            <a:off x="3840480" y="1280160"/>
            <a:ext cx="1508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Step number badge 3"/>
          <p:cNvSpPr/>
          <p:nvPr/>
        </p:nvSpPr>
        <p:spPr>
          <a:xfrm>
            <a:off x="3931920" y="13716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 number 3"/>
          <p:cNvSpPr txBox="1"/>
          <p:nvPr/>
        </p:nvSpPr>
        <p:spPr>
          <a:xfrm>
            <a:off x="39319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tep text 3"/>
          <p:cNvSpPr txBox="1"/>
          <p:nvPr/>
        </p:nvSpPr>
        <p:spPr>
          <a:xfrm>
            <a:off x="3931920" y="18288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cycle</a:t>
            </a:r>
            <a:endParaRPr lang="en-US" sz="1600" dirty="0"/>
          </a:p>
        </p:txBody>
      </p:sp>
      <p:sp>
        <p:nvSpPr>
          <p:cNvPr id="17" name="Step arrow 3"/>
          <p:cNvSpPr/>
          <p:nvPr/>
        </p:nvSpPr>
        <p:spPr>
          <a:xfrm>
            <a:off x="5367528" y="1828800"/>
            <a:ext cx="146304" cy="2286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8" name="Step card 4"/>
          <p:cNvSpPr/>
          <p:nvPr/>
        </p:nvSpPr>
        <p:spPr>
          <a:xfrm>
            <a:off x="5532120" y="1280160"/>
            <a:ext cx="1508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Step number badge 4"/>
          <p:cNvSpPr/>
          <p:nvPr/>
        </p:nvSpPr>
        <p:spPr>
          <a:xfrm>
            <a:off x="5623560" y="13716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number 4"/>
          <p:cNvSpPr txBox="1"/>
          <p:nvPr/>
        </p:nvSpPr>
        <p:spPr>
          <a:xfrm>
            <a:off x="56235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Step text 4"/>
          <p:cNvSpPr txBox="1"/>
          <p:nvPr/>
        </p:nvSpPr>
        <p:spPr>
          <a:xfrm>
            <a:off x="5623560" y="18288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or reject</a:t>
            </a:r>
            <a:endParaRPr lang="en-US" sz="1600" dirty="0"/>
          </a:p>
        </p:txBody>
      </p:sp>
      <p:sp>
        <p:nvSpPr>
          <p:cNvPr id="22" name="Step arrow 4"/>
          <p:cNvSpPr/>
          <p:nvPr/>
        </p:nvSpPr>
        <p:spPr>
          <a:xfrm>
            <a:off x="7059168" y="1828800"/>
            <a:ext cx="146304" cy="2286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3" name="Step card 5"/>
          <p:cNvSpPr/>
          <p:nvPr/>
        </p:nvSpPr>
        <p:spPr>
          <a:xfrm>
            <a:off x="7223760" y="1280160"/>
            <a:ext cx="150876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24" name="Step number badge 5"/>
          <p:cNvSpPr/>
          <p:nvPr/>
        </p:nvSpPr>
        <p:spPr>
          <a:xfrm>
            <a:off x="7315200" y="1371600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Step number 5"/>
          <p:cNvSpPr txBox="1"/>
          <p:nvPr/>
        </p:nvSpPr>
        <p:spPr>
          <a:xfrm>
            <a:off x="73152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Step text 5"/>
          <p:cNvSpPr txBox="1"/>
          <p:nvPr/>
        </p:nvSpPr>
        <p:spPr>
          <a:xfrm>
            <a:off x="7315200" y="18288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Repeat until V − 1 edges</a:t>
            </a:r>
            <a:endParaRPr lang="en-US" sz="1600" dirty="0"/>
          </a:p>
        </p:txBody>
      </p:sp>
      <p:sp>
        <p:nvSpPr>
          <p:cNvPr id="27" name="Pseudocode card"/>
          <p:cNvSpPr/>
          <p:nvPr/>
        </p:nvSpPr>
        <p:spPr>
          <a:xfrm>
            <a:off x="457200" y="2926080"/>
            <a:ext cx="8229600" cy="1508760"/>
          </a:xfrm>
          <a:prstGeom prst="roundRect">
            <a:avLst>
              <a:gd name="adj" fmla="val 4848"/>
            </a:avLst>
          </a:prstGeom>
          <a:solidFill>
            <a:schemeClr val="tx1"/>
          </a:solidFill>
          <a:ln/>
        </p:spPr>
      </p:sp>
      <p:sp>
        <p:nvSpPr>
          <p:cNvPr id="28" name="Pseudocode"/>
          <p:cNvSpPr txBox="1"/>
          <p:nvPr/>
        </p:nvSpPr>
        <p:spPr>
          <a:xfrm>
            <a:off x="731520" y="301752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sort(edges)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(u, v, w) in edges: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find(u) != find(v):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union(u, v);  add (u, v) to MST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len(MST) == V - 1:  break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How fast is it?</a:t>
            </a:r>
            <a:endParaRPr lang="en-US" sz="3200" dirty="0"/>
          </a:p>
        </p:txBody>
      </p:sp>
      <p:sp>
        <p:nvSpPr>
          <p:cNvPr id="3" name="Complexity card 1"/>
          <p:cNvSpPr/>
          <p:nvPr/>
        </p:nvSpPr>
        <p:spPr>
          <a:xfrm>
            <a:off x="457200" y="128016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4" name="Complexity label 1"/>
          <p:cNvSpPr txBox="1"/>
          <p:nvPr/>
        </p:nvSpPr>
        <p:spPr>
          <a:xfrm>
            <a:off x="7315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Time complexity</a:t>
            </a:r>
            <a:endParaRPr lang="en-US" sz="1400" dirty="0"/>
          </a:p>
        </p:txBody>
      </p:sp>
      <p:sp>
        <p:nvSpPr>
          <p:cNvPr id="5" name="Complexity value 1"/>
          <p:cNvSpPr txBox="1"/>
          <p:nvPr/>
        </p:nvSpPr>
        <p:spPr>
          <a:xfrm>
            <a:off x="73152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O(E log E)</a:t>
            </a:r>
            <a:endParaRPr lang="en-US" sz="4000" dirty="0"/>
          </a:p>
        </p:txBody>
      </p:sp>
      <p:sp>
        <p:nvSpPr>
          <p:cNvPr id="6" name="Complexity text 1"/>
          <p:cNvSpPr txBox="1"/>
          <p:nvPr/>
        </p:nvSpPr>
        <p:spPr>
          <a:xfrm>
            <a:off x="73152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Sorting the edges dominates the work.</a:t>
            </a:r>
            <a:endParaRPr lang="en-US" sz="1400" dirty="0"/>
          </a:p>
        </p:txBody>
      </p:sp>
      <p:sp>
        <p:nvSpPr>
          <p:cNvPr id="7" name="Complexity card 2"/>
          <p:cNvSpPr/>
          <p:nvPr/>
        </p:nvSpPr>
        <p:spPr>
          <a:xfrm>
            <a:off x="4663440" y="128016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8" name="Complexity label 2"/>
          <p:cNvSpPr txBox="1"/>
          <p:nvPr/>
        </p:nvSpPr>
        <p:spPr>
          <a:xfrm>
            <a:off x="49377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Space complexity</a:t>
            </a:r>
            <a:endParaRPr lang="en-US" sz="1400" dirty="0"/>
          </a:p>
        </p:txBody>
      </p:sp>
      <p:sp>
        <p:nvSpPr>
          <p:cNvPr id="9" name="Complexity value 2"/>
          <p:cNvSpPr txBox="1"/>
          <p:nvPr/>
        </p:nvSpPr>
        <p:spPr>
          <a:xfrm>
            <a:off x="493776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O(V)</a:t>
            </a:r>
            <a:endParaRPr lang="en-US" sz="4000" dirty="0"/>
          </a:p>
        </p:txBody>
      </p:sp>
      <p:sp>
        <p:nvSpPr>
          <p:cNvPr id="10" name="Complexity text 2"/>
          <p:cNvSpPr txBox="1"/>
          <p:nvPr/>
        </p:nvSpPr>
        <p:spPr>
          <a:xfrm>
            <a:off x="493776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Parent and rank arrays for Union-Find.</a:t>
            </a:r>
            <a:endParaRPr lang="en-US" sz="1400" dirty="0"/>
          </a:p>
        </p:txBody>
      </p:sp>
      <p:sp>
        <p:nvSpPr>
          <p:cNvPr id="11" name="Closing tagline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cheapest. Avoid cycles. Build the MST.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uskal Blue">
  <a:themeElements>
    <a:clrScheme name="Kruskal Blue">
      <a:dk1>
        <a:srgbClr val="0A1F44"/>
      </a:dk1>
      <a:lt1>
        <a:srgbClr val="FFFFFF"/>
      </a:lt1>
      <a:dk2>
        <a:srgbClr val="123A8F"/>
      </a:dk2>
      <a:lt2>
        <a:srgbClr val="EAF1FE"/>
      </a:lt2>
      <a:accent1>
        <a:srgbClr val="1D5FE0"/>
      </a:accent1>
      <a:accent2>
        <a:srgbClr val="D83A3A"/>
      </a:accent2>
      <a:accent3>
        <a:srgbClr val="0E9F8E"/>
      </a:accent3>
      <a:accent4>
        <a:srgbClr val="7A4FE0"/>
      </a:accent4>
      <a:accent5>
        <a:srgbClr val="C06F0A"/>
      </a:accent5>
      <a:accent6>
        <a:srgbClr val="56698C"/>
      </a:accent6>
      <a:hlink>
        <a:srgbClr val="1D5FE0"/>
      </a:hlink>
      <a:folHlink>
        <a:srgbClr val="7A4FE0"/>
      </a:folHlink>
    </a:clrScheme>
    <a:fontScheme name="Kruskal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1228</Words>
  <Application>Microsoft Macintosh PowerPoint</Application>
  <PresentationFormat>On-screen Show (16:9)</PresentationFormat>
  <Paragraphs>304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Kruskal Blue</vt:lpstr>
      <vt:lpstr>Kruskal's Algorithm</vt:lpstr>
      <vt:lpstr>Connecting cities at minimum cost</vt:lpstr>
      <vt:lpstr>What is a Minimum Spanning Tree?</vt:lpstr>
      <vt:lpstr>The idea: always take the cheapest safe edge</vt:lpstr>
      <vt:lpstr>Step 1: sort the edges by weight</vt:lpstr>
      <vt:lpstr>Union-Find: checking for cycles fast</vt:lpstr>
      <vt:lpstr>Accepting the cheapest edges</vt:lpstr>
      <vt:lpstr>Rejecting edges that form cycles</vt:lpstr>
      <vt:lpstr>Stop after V − 1 edges</vt:lpstr>
      <vt:lpstr>Full trace of the algorithm</vt:lpstr>
      <vt:lpstr>The final Minimum Spanning Tree</vt:lpstr>
      <vt:lpstr>The algorithm in five steps</vt:lpstr>
      <vt:lpstr>How fast is it?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Kruskal's Algorithm</dc:title>
  <dc:subject>Minimum Spanning Tree</dc:subject>
  <dc:creator>PptxGenJS</dc:creator>
  <cp:lastModifiedBy>kashvi balani</cp:lastModifiedBy>
  <cp:revision>1</cp:revision>
  <dcterms:created xsi:type="dcterms:W3CDTF">2026-10-06T06:21:18Z</dcterms:created>
  <dcterms:modified xsi:type="dcterms:W3CDTF">2026-10-06T07:11:25Z</dcterms:modified>
</cp:coreProperties>
</file>